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62" r:id="rId3"/>
    <p:sldId id="263" r:id="rId4"/>
    <p:sldId id="264" r:id="rId5"/>
    <p:sldId id="265" r:id="rId6"/>
    <p:sldId id="269" r:id="rId7"/>
    <p:sldId id="282" r:id="rId8"/>
    <p:sldId id="266" r:id="rId9"/>
    <p:sldId id="268" r:id="rId10"/>
    <p:sldId id="288" r:id="rId11"/>
    <p:sldId id="267" r:id="rId12"/>
    <p:sldId id="287" r:id="rId13"/>
    <p:sldId id="270" r:id="rId14"/>
    <p:sldId id="283" r:id="rId15"/>
    <p:sldId id="271" r:id="rId16"/>
    <p:sldId id="284" r:id="rId17"/>
    <p:sldId id="272" r:id="rId18"/>
    <p:sldId id="274" r:id="rId19"/>
    <p:sldId id="275" r:id="rId20"/>
    <p:sldId id="281" r:id="rId21"/>
    <p:sldId id="280" r:id="rId22"/>
    <p:sldId id="286" r:id="rId23"/>
    <p:sldId id="276" r:id="rId24"/>
    <p:sldId id="277" r:id="rId25"/>
    <p:sldId id="278" r:id="rId26"/>
    <p:sldId id="279" r:id="rId27"/>
    <p:sldId id="273" r:id="rId28"/>
    <p:sldId id="285" r:id="rId29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5" d="100"/>
          <a:sy n="65" d="100"/>
        </p:scale>
        <p:origin x="84" y="156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3"/>
          <c:y val="0.12693499999999999"/>
          <c:w val="0.86424199999999995"/>
          <c:h val="0.66747100000000004"/>
        </c:manualLayout>
      </c:layout>
      <c:barChart>
        <c:barDir val="bar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b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>
      <a:off x="346075" y="1424510"/>
      <a:ext cx="5749925" cy="4401748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prstGeom prst="rect">
          <a:avLst/>
        </a:prstGeom>
        <a:noFill/>
        <a:ln w="25400">
          <a:noFill/>
        </a:ln>
        <a:effectLst/>
      </c:spPr>
    </c:plotArea>
    <c:plotVisOnly val="1"/>
    <c:dispBlanksAs val="gap"/>
    <c:showDLblsOverMax val="0"/>
  </c:chart>
  <c:spPr bwMode="auto">
    <a:xfrm>
      <a:off x="625096" y="1360288"/>
      <a:ext cx="5125748" cy="4385667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MarkerLayout/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MarkerLayout/>
  <cs:dataPointWirefram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0.97527</cdr:x>
      <cdr:y>1</cdr:y>
    </cdr:to>
    <cdr:pic>
      <cdr:nvPicPr>
        <cdr:cNvPr id="2" name="Рисунок 1"/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5051884" cy="4385667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069116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71660511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25.09.2026</a:t>
            </a:fld>
            <a:endParaRPr lang="ru-RU"/>
          </a:p>
        </p:txBody>
      </p:sp>
      <p:sp>
        <p:nvSpPr>
          <p:cNvPr id="1538548656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504956586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17827549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9891260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9F577-651D-0268-DAF0-F247FB5BBA8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91FAC1-FD5B-D2D4-F640-4DAC01E424D2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57F59A-0F44-15DD-2CD4-615876A30A4F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64305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44658190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33285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521813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38190459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4289968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45630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2220076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79286538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5F9E40-3501-80BF-B49C-55745CD73568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147489-9C29-6493-B199-36BB8BBFDC63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09F541-7DB5-5EE6-3E1D-1CD924FDC28C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09F541-7DB5-5EE6-3E1D-1CD924FDC28C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0955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4D0EF-491A-5405-2AB6-CFBAB208103E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09F541-7DB5-5EE6-3E1D-1CD924FDC28C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9117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6E0F61-C353-0D30-C3FA-93ED3872E4EE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AC0995-119B-64A7-57A8-173CE16E58F4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85DBDF-A6EB-E12E-7ED5-9B28D2F4FF26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76DE60-0098-D90B-3947-1797B2DFBA40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7950D2-8310-638F-9794-1B2378CE4300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014FB2-A56F-133E-3286-610763DB6759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3F3C10-570F-F8E9-B1D0-8C62AA7C7A78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0D5FF6-6086-7F25-E5CE-2DB462DF642F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BADB5-0CB0-9D3F-1774-6868B1D3B0DF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6E0F61-C353-0D30-C3FA-93ED3872E4EE}" type="slidenum">
              <a:rPr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4682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B86CEB-E98F-2C5D-3480-76CA0101938E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D49584-9229-1DD0-DA0B-6314919CD4E0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606927-0C0B-A550-67FE-6475DE6C9286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618814-ED27-9920-47CC-94D8CEB089A8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886BA7-61DF-5C25-2486-962D6EBA43A9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6E0F61-C353-0D30-C3FA-93ED3872E4EE}" type="slidenum">
              <a:rPr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1526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316690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978325334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987334777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1389973347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80776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73941950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5762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25.09.2026</a:t>
            </a:fld>
            <a:endParaRPr lang="ru-RU"/>
          </a:p>
        </p:txBody>
      </p:sp>
      <p:sp>
        <p:nvSpPr>
          <p:cNvPr id="12354365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522630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868093541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212742893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785413548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812169310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7557578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06947085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48978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25.09.2026</a:t>
            </a:fld>
            <a:endParaRPr lang="ru-RU"/>
          </a:p>
        </p:txBody>
      </p:sp>
      <p:sp>
        <p:nvSpPr>
          <p:cNvPr id="3583541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5275982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3108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466025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25.09.2026</a:t>
            </a:fld>
            <a:endParaRPr lang="ru-RU"/>
          </a:p>
        </p:txBody>
      </p:sp>
      <p:sp>
        <p:nvSpPr>
          <p:cNvPr id="144350621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442503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235429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1540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61430826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58907348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25.09.2026</a:t>
            </a:fld>
            <a:endParaRPr lang="ru-RU"/>
          </a:p>
        </p:txBody>
      </p:sp>
      <p:sp>
        <p:nvSpPr>
          <p:cNvPr id="65095094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698371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18542483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51084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1593247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136333782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01945294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26512913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25.09.2026</a:t>
            </a:fld>
            <a:endParaRPr lang="ru-RU"/>
          </a:p>
        </p:txBody>
      </p:sp>
      <p:sp>
        <p:nvSpPr>
          <p:cNvPr id="1232175902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53589764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66426796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46667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25.09.2026</a:t>
            </a:fld>
            <a:endParaRPr lang="ru-RU"/>
          </a:p>
        </p:txBody>
      </p:sp>
      <p:sp>
        <p:nvSpPr>
          <p:cNvPr id="147979741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70796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25711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77524981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2811699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2348267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25.09.2026</a:t>
            </a:fld>
            <a:endParaRPr lang="ru-RU"/>
          </a:p>
        </p:txBody>
      </p:sp>
      <p:sp>
        <p:nvSpPr>
          <p:cNvPr id="114715382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7825804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28537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25.09.2026</a:t>
            </a:fld>
            <a:endParaRPr lang="ru-RU"/>
          </a:p>
        </p:txBody>
      </p:sp>
      <p:sp>
        <p:nvSpPr>
          <p:cNvPr id="201525823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07739971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0737683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74559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25.09.2026</a:t>
            </a:fld>
            <a:endParaRPr lang="ru-RU"/>
          </a:p>
        </p:txBody>
      </p:sp>
      <p:sp>
        <p:nvSpPr>
          <p:cNvPr id="142358700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266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06941027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724094156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899786805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74362731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711039387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121295923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894635786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992116608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762247059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5457811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737700144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26362875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08735031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22526642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15231780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659216221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724109905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535269701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121274876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00845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25.09.2026</a:t>
            </a:fld>
            <a:endParaRPr lang="ru-RU"/>
          </a:p>
        </p:txBody>
      </p:sp>
      <p:sp>
        <p:nvSpPr>
          <p:cNvPr id="206250794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4716839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020342489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008739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00568219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1751221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64930685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3352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25.09.2026</a:t>
            </a:fld>
            <a:endParaRPr lang="ru-RU"/>
          </a:p>
        </p:txBody>
      </p:sp>
      <p:sp>
        <p:nvSpPr>
          <p:cNvPr id="103533597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15905345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94721167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677368128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3782274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39508855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70519532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92465705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03644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25.09.2026</a:t>
            </a:fld>
            <a:endParaRPr lang="ru-RU"/>
          </a:p>
        </p:txBody>
      </p:sp>
      <p:sp>
        <p:nvSpPr>
          <p:cNvPr id="160027846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7212768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4685533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8948555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3079221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12273946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5754123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8449762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62414816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93120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25.09.2026</a:t>
            </a:fld>
            <a:endParaRPr lang="ru-RU"/>
          </a:p>
        </p:txBody>
      </p:sp>
      <p:sp>
        <p:nvSpPr>
          <p:cNvPr id="293443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411567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6399212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0623808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7506142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3860818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02934293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82309528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35293920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5263877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715011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648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25.09.2026</a:t>
            </a:fld>
            <a:endParaRPr lang="ru-RU"/>
          </a:p>
        </p:txBody>
      </p:sp>
      <p:sp>
        <p:nvSpPr>
          <p:cNvPr id="156091837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4086660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89265728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11668942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46618679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1679000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56318500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8453316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7156582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58341950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9191095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9838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25.09.2026</a:t>
            </a:fld>
            <a:endParaRPr lang="ru-RU"/>
          </a:p>
        </p:txBody>
      </p:sp>
      <p:sp>
        <p:nvSpPr>
          <p:cNvPr id="97410181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1910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095003882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9685618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483070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55910601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76380381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241641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2726045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38545975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88485889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17185008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201114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79125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25.09.2026</a:t>
            </a:fld>
            <a:endParaRPr lang="ru-RU"/>
          </a:p>
        </p:txBody>
      </p:sp>
      <p:sp>
        <p:nvSpPr>
          <p:cNvPr id="12495249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2665330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73126169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53645215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2010645203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525543987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215142486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711394415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27124060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42126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7581427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25.09.2026</a:t>
            </a:fld>
            <a:endParaRPr lang="ru-RU"/>
          </a:p>
        </p:txBody>
      </p:sp>
      <p:sp>
        <p:nvSpPr>
          <p:cNvPr id="74991234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7101585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37497533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60105852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6815948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44743031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49794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25.09.2026</a:t>
            </a:fld>
            <a:endParaRPr lang="ru-RU"/>
          </a:p>
        </p:txBody>
      </p:sp>
      <p:sp>
        <p:nvSpPr>
          <p:cNvPr id="66797908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4760185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00767368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308793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03338028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27113756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552810132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7528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81280943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50255245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3385680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2659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18578422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76631588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8486440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97193555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429081467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9660620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4782341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1473590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059440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41390764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25.09.2026</a:t>
            </a:fld>
            <a:endParaRPr lang="ru-RU"/>
          </a:p>
        </p:txBody>
      </p:sp>
      <p:sp>
        <p:nvSpPr>
          <p:cNvPr id="1339281491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83803615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931207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278365410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228046361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46493672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28481217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25.09.2026</a:t>
            </a:fld>
            <a:endParaRPr lang="ru-RU"/>
          </a:p>
        </p:txBody>
      </p:sp>
      <p:sp>
        <p:nvSpPr>
          <p:cNvPr id="156327231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4086614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8430748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3745161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66604127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70685768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5572860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65649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96368933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0504816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25.09.2026</a:t>
            </a:fld>
            <a:endParaRPr lang="ru-RU"/>
          </a:p>
        </p:txBody>
      </p:sp>
      <p:sp>
        <p:nvSpPr>
          <p:cNvPr id="80876722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0916444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ortem.tilda.ws/comics" TargetMode="External"/><Relationship Id="rId5" Type="http://schemas.openxmlformats.org/officeDocument/2006/relationships/hyperlink" Target="https://ridero.ru/books/ekonomiya_kak_dukhovnaya_praktika/" TargetMode="Externa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jp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4.jpe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jpg"/><Relationship Id="rId5" Type="http://schemas.openxmlformats.org/officeDocument/2006/relationships/hyperlink" Target="https://mortem.tilda.ws/comics" TargetMode="External"/><Relationship Id="rId4" Type="http://schemas.openxmlformats.org/officeDocument/2006/relationships/hyperlink" Target="https://ridero.ru/books/ekonomiya_kak_dukhovnaya_praktika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8.png"/><Relationship Id="rId4" Type="http://schemas.openxmlformats.org/officeDocument/2006/relationships/chart" Target="../charts/char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418610" name="Номер слайда 2"/>
          <p:cNvSpPr>
            <a:spLocks noGrp="1"/>
          </p:cNvSpPr>
          <p:nvPr>
            <p:ph type="sldNum" sz="quarter" idx="4"/>
          </p:nvPr>
        </p:nvSpPr>
        <p:spPr bwMode="auto">
          <a:xfrm>
            <a:off x="11418327" y="6356362"/>
            <a:ext cx="702819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308580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 dirty="0" smtClean="0"/>
              <a:t>Вектор кода</a:t>
            </a:r>
            <a:endParaRPr lang="ru-RU" sz="4800" dirty="0"/>
          </a:p>
        </p:txBody>
      </p:sp>
      <p:sp>
        <p:nvSpPr>
          <p:cNvPr id="79603494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237018"/>
            <a:ext cx="8930641" cy="1179657"/>
          </a:xfrm>
        </p:spPr>
        <p:txBody>
          <a:bodyPr anchor="ctr">
            <a:normAutofit/>
          </a:bodyPr>
          <a:lstStyle/>
          <a:p>
            <a:pPr indent="268288">
              <a:defRPr/>
            </a:pPr>
            <a:r>
              <a:rPr lang="ru-RU" dirty="0" smtClean="0"/>
              <a:t>Задача 6. </a:t>
            </a:r>
          </a:p>
          <a:p>
            <a:pPr indent="268288">
              <a:defRPr/>
            </a:pPr>
            <a:r>
              <a:rPr lang="ru-RU" dirty="0" smtClean="0"/>
              <a:t>Мобильное </a:t>
            </a:r>
            <a:r>
              <a:rPr lang="ru-RU" dirty="0"/>
              <a:t>приложение по повышению </a:t>
            </a:r>
            <a:endParaRPr lang="ru-RU" dirty="0" smtClean="0"/>
          </a:p>
          <a:p>
            <a:pPr indent="268288">
              <a:defRPr/>
            </a:pPr>
            <a:r>
              <a:rPr lang="ru-RU" dirty="0" smtClean="0"/>
              <a:t>финансовой </a:t>
            </a:r>
            <a:r>
              <a:rPr lang="ru-RU" dirty="0"/>
              <a:t>грамотности детей и молодежи Москвы</a:t>
            </a:r>
            <a:endParaRPr lang="ru-RU" dirty="0"/>
          </a:p>
        </p:txBody>
      </p:sp>
      <p:sp>
        <p:nvSpPr>
          <p:cNvPr id="11990556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2" name="Image 3" descr=" 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00546" y="106175"/>
            <a:ext cx="4045527" cy="17655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858218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2" name="Рисунок 1"/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1" b="13111"/>
          <a:stretch>
            <a:fillRect/>
          </a:stretch>
        </p:blipFill>
        <p:spPr bwMode="auto">
          <a:xfrm>
            <a:off x="588890" y="497257"/>
            <a:ext cx="5278582" cy="2429679"/>
          </a:xfrm>
        </p:spPr>
      </p:pic>
      <p:sp>
        <p:nvSpPr>
          <p:cNvPr id="91451211" name="Текст 8"/>
          <p:cNvSpPr txBox="1"/>
          <p:nvPr/>
        </p:nvSpPr>
        <p:spPr bwMode="auto">
          <a:xfrm>
            <a:off x="6897347" y="1712593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  <a:endParaRPr dirty="0"/>
          </a:p>
        </p:txBody>
      </p:sp>
      <p:sp>
        <p:nvSpPr>
          <p:cNvPr id="30418761" name="Текст 8"/>
          <p:cNvSpPr txBox="1"/>
          <p:nvPr/>
        </p:nvSpPr>
        <p:spPr bwMode="auto">
          <a:xfrm>
            <a:off x="6622474" y="4199237"/>
            <a:ext cx="5350152" cy="25222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7030A0"/>
                </a:solidFill>
              </a:rPr>
              <a:t>📚 </a:t>
            </a:r>
            <a:r>
              <a:rPr lang="ru-RU" b="1" dirty="0">
                <a:solidFill>
                  <a:srgbClr val="7030A0"/>
                </a:solidFill>
              </a:rPr>
              <a:t>Собственная методическая база:</a:t>
            </a:r>
            <a:r>
              <a:rPr lang="ru-RU" dirty="0">
                <a:solidFill>
                  <a:srgbClr val="7030A0"/>
                </a:solidFill>
              </a:rPr>
              <a:t> В основе приложения лежит авторская книга </a:t>
            </a:r>
            <a:r>
              <a:rPr lang="ru-RU" b="1" dirty="0">
                <a:solidFill>
                  <a:srgbClr val="7030A0"/>
                </a:solidFill>
              </a:rPr>
              <a:t>«Жанна экономит»</a:t>
            </a:r>
            <a:r>
              <a:rPr lang="ru-RU" dirty="0">
                <a:solidFill>
                  <a:srgbClr val="7030A0"/>
                </a:solidFill>
              </a:rPr>
              <a:t> (автор: Жанна </a:t>
            </a:r>
            <a:r>
              <a:rPr lang="ru-RU" dirty="0" err="1">
                <a:solidFill>
                  <a:srgbClr val="7030A0"/>
                </a:solidFill>
              </a:rPr>
              <a:t>Калеева</a:t>
            </a:r>
            <a:r>
              <a:rPr lang="ru-RU" dirty="0">
                <a:solidFill>
                  <a:srgbClr val="7030A0"/>
                </a:solidFill>
              </a:rPr>
              <a:t>, псевдоним «Веня Сбереженя»). Тексты всех игровых заданий уже разработаны на базе этой книги и в данный момент адаптируются сценаристом команды под возрастную группу 7–11 лет</a:t>
            </a:r>
            <a:r>
              <a:rPr lang="ru-RU" dirty="0" smtClean="0">
                <a:solidFill>
                  <a:srgbClr val="7030A0"/>
                </a:solidFill>
              </a:rPr>
              <a:t>..</a:t>
            </a:r>
            <a:r>
              <a:rPr lang="ru-RU" dirty="0">
                <a:solidFill>
                  <a:srgbClr val="7030A0"/>
                </a:solidFill>
              </a:rPr>
              <a:t/>
            </a:r>
            <a:br>
              <a:rPr lang="ru-RU" dirty="0">
                <a:solidFill>
                  <a:srgbClr val="7030A0"/>
                </a:solidFill>
              </a:rPr>
            </a:br>
            <a:r>
              <a:rPr lang="ru-RU" dirty="0">
                <a:solidFill>
                  <a:srgbClr val="7030A0"/>
                </a:solidFill>
              </a:rPr>
              <a:t>🔗 </a:t>
            </a:r>
            <a:r>
              <a:rPr lang="ru-RU" i="1" u="sng" dirty="0">
                <a:solidFill>
                  <a:srgbClr val="7030A0"/>
                </a:solidFill>
                <a:hlinkClick r:id="rId5"/>
              </a:rPr>
              <a:t>Ознакомиться с книгой на </a:t>
            </a:r>
            <a:r>
              <a:rPr lang="ru-RU" i="1" u="sng" dirty="0" err="1">
                <a:solidFill>
                  <a:srgbClr val="7030A0"/>
                </a:solidFill>
                <a:hlinkClick r:id="rId5"/>
              </a:rPr>
              <a:t>Ridero</a:t>
            </a:r>
            <a:endParaRPr lang="ru-RU" dirty="0">
              <a:solidFill>
                <a:srgbClr val="7030A0"/>
              </a:solidFill>
            </a:endParaRPr>
          </a:p>
          <a:p>
            <a:r>
              <a:rPr lang="ru-RU" dirty="0">
                <a:solidFill>
                  <a:srgbClr val="7030A0"/>
                </a:solidFill>
              </a:rPr>
              <a:t>🎨 </a:t>
            </a:r>
            <a:r>
              <a:rPr lang="ru-RU" b="1" dirty="0">
                <a:solidFill>
                  <a:srgbClr val="7030A0"/>
                </a:solidFill>
              </a:rPr>
              <a:t>Авторская графика:</a:t>
            </a:r>
            <a:r>
              <a:rPr lang="ru-RU" dirty="0">
                <a:solidFill>
                  <a:srgbClr val="7030A0"/>
                </a:solidFill>
              </a:rPr>
              <a:t> Оригинальные иллюстрации персонажей (Тоби и Ананас Татьяна), созданные профессиональной художницей Маринетт </a:t>
            </a:r>
            <a:r>
              <a:rPr lang="ru-RU" dirty="0" err="1">
                <a:solidFill>
                  <a:srgbClr val="7030A0"/>
                </a:solidFill>
              </a:rPr>
              <a:t>Мортем</a:t>
            </a:r>
            <a:r>
              <a:rPr lang="ru-RU" dirty="0">
                <a:solidFill>
                  <a:srgbClr val="7030A0"/>
                </a:solidFill>
              </a:rPr>
              <a:t>. Письменное согласие автора на использование, адаптацию и распространение данных иллюстраций в составе приложения получено.</a:t>
            </a:r>
            <a:br>
              <a:rPr lang="ru-RU" dirty="0">
                <a:solidFill>
                  <a:srgbClr val="7030A0"/>
                </a:solidFill>
              </a:rPr>
            </a:br>
            <a:r>
              <a:rPr lang="ru-RU" dirty="0">
                <a:solidFill>
                  <a:srgbClr val="7030A0"/>
                </a:solidFill>
              </a:rPr>
              <a:t>🔗 </a:t>
            </a:r>
            <a:r>
              <a:rPr lang="ru-RU" i="1" u="sng" dirty="0">
                <a:solidFill>
                  <a:srgbClr val="7030A0"/>
                </a:solidFill>
                <a:hlinkClick r:id="rId6"/>
              </a:rPr>
              <a:t>Портфолио и комиксы художника</a:t>
            </a:r>
            <a:endParaRPr lang="ru-RU" dirty="0">
              <a:solidFill>
                <a:srgbClr val="7030A0"/>
              </a:solidFill>
            </a:endParaRPr>
          </a:p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endParaRPr dirty="0">
              <a:solidFill>
                <a:srgbClr val="7030A0"/>
              </a:solidFill>
            </a:endParaRPr>
          </a:p>
        </p:txBody>
      </p:sp>
      <p:sp>
        <p:nvSpPr>
          <p:cNvPr id="2071656159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 err="1" smtClean="0">
                <a:solidFill>
                  <a:schemeClr val="tx1"/>
                </a:solidFill>
              </a:rPr>
              <a:t>Калеева</a:t>
            </a:r>
            <a:r>
              <a:rPr lang="ru-RU" dirty="0" smtClean="0">
                <a:solidFill>
                  <a:schemeClr val="tx1"/>
                </a:solidFill>
              </a:rPr>
              <a:t> Жанна Григорьевна, </a:t>
            </a:r>
            <a:r>
              <a:rPr lang="ru-RU" dirty="0" smtClean="0">
                <a:solidFill>
                  <a:srgbClr val="002060"/>
                </a:solidFill>
              </a:rPr>
              <a:t>капитан </a:t>
            </a:r>
            <a:r>
              <a:rPr lang="ru-RU" dirty="0">
                <a:solidFill>
                  <a:srgbClr val="002060"/>
                </a:solidFill>
              </a:rPr>
              <a:t>команды, </a:t>
            </a:r>
            <a:endParaRPr lang="ru-RU" dirty="0" smtClean="0">
              <a:solidFill>
                <a:srgbClr val="00206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dirty="0" err="1" smtClean="0">
                <a:solidFill>
                  <a:srgbClr val="002060"/>
                </a:solidFill>
              </a:rPr>
              <a:t>Tech</a:t>
            </a: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Lead</a:t>
            </a:r>
            <a:r>
              <a:rPr lang="ru-RU" dirty="0">
                <a:solidFill>
                  <a:srgbClr val="002060"/>
                </a:solidFill>
              </a:rPr>
              <a:t> и автор методической </a:t>
            </a:r>
            <a:r>
              <a:rPr lang="ru-RU" dirty="0" smtClean="0">
                <a:solidFill>
                  <a:srgbClr val="002060"/>
                </a:solidFill>
              </a:rPr>
              <a:t>базы</a:t>
            </a:r>
            <a:endParaRPr dirty="0">
              <a:solidFill>
                <a:srgbClr val="002060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b="1" dirty="0" smtClean="0">
                <a:solidFill>
                  <a:schemeClr val="tx1"/>
                </a:solidFill>
              </a:rPr>
              <a:t>2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человек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как образовалась команда</a:t>
            </a:r>
            <a:r>
              <a:rPr lang="ru-RU" i="1" dirty="0" smtClean="0">
                <a:solidFill>
                  <a:schemeClr val="tx1"/>
                </a:solidFill>
              </a:rPr>
              <a:t>? Мы сестры, наша жизнь это творчество, наука и технологии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 smtClean="0">
                <a:solidFill>
                  <a:schemeClr val="tx1"/>
                </a:solidFill>
              </a:rPr>
              <a:t>Жанна </a:t>
            </a:r>
            <a:r>
              <a:rPr lang="ru-RU" i="1" dirty="0" err="1" smtClean="0">
                <a:solidFill>
                  <a:schemeClr val="tx1"/>
                </a:solidFill>
              </a:rPr>
              <a:t>Калеева</a:t>
            </a:r>
            <a:r>
              <a:rPr lang="ru-RU" i="1" dirty="0" smtClean="0">
                <a:solidFill>
                  <a:schemeClr val="tx1"/>
                </a:solidFill>
              </a:rPr>
              <a:t> – кандидат наук, профессор РАЕ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 i="1" dirty="0" smtClean="0">
                <a:solidFill>
                  <a:schemeClr val="tx1"/>
                </a:solidFill>
              </a:rPr>
              <a:t>Инна Старикова – сценарист</a:t>
            </a:r>
            <a:r>
              <a:rPr lang="ru-RU" i="1" dirty="0">
                <a:solidFill>
                  <a:schemeClr val="tx1"/>
                </a:solidFill>
              </a:rPr>
              <a:t>, </a:t>
            </a:r>
            <a:r>
              <a:rPr lang="ru-RU" i="1" dirty="0" err="1">
                <a:solidFill>
                  <a:schemeClr val="tx1"/>
                </a:solidFill>
              </a:rPr>
              <a:t>нарративный</a:t>
            </a:r>
            <a:r>
              <a:rPr lang="ru-RU" i="1" dirty="0">
                <a:solidFill>
                  <a:schemeClr val="tx1"/>
                </a:solidFill>
              </a:rPr>
              <a:t> дизайнер,</a:t>
            </a:r>
            <a:r>
              <a:rPr lang="ru-RU" i="1" dirty="0">
                <a:solidFill>
                  <a:schemeClr val="tx1"/>
                </a:solidFill>
              </a:rPr>
              <a:t> </a:t>
            </a:r>
            <a:r>
              <a:rPr lang="ru-RU" i="1" dirty="0">
                <a:solidFill>
                  <a:schemeClr val="tx1"/>
                </a:solidFill>
              </a:rPr>
              <a:t>редактор</a:t>
            </a:r>
            <a:r>
              <a:rPr lang="ru-RU" i="1" dirty="0" smtClean="0">
                <a:solidFill>
                  <a:schemeClr val="tx1"/>
                </a:solidFill>
              </a:rPr>
              <a:t>, журналист, член Союза Писателей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 smtClean="0">
                <a:solidFill>
                  <a:schemeClr val="tx1"/>
                </a:solidFill>
              </a:rPr>
              <a:t>Город </a:t>
            </a:r>
            <a:r>
              <a:rPr lang="ru-RU" b="1" dirty="0">
                <a:solidFill>
                  <a:schemeClr val="tx1"/>
                </a:solidFill>
              </a:rPr>
              <a:t>и регион</a:t>
            </a:r>
            <a:r>
              <a:rPr lang="ru-RU" b="1" dirty="0" smtClean="0">
                <a:solidFill>
                  <a:schemeClr val="tx1"/>
                </a:solidFill>
              </a:rPr>
              <a:t>: Санкт-Петербург</a:t>
            </a:r>
            <a:endParaRPr dirty="0"/>
          </a:p>
        </p:txBody>
      </p:sp>
      <p:sp>
        <p:nvSpPr>
          <p:cNvPr id="2106890188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1387027164" name="Заголовок 6"/>
          <p:cNvSpPr>
            <a:spLocks noGrp="1"/>
          </p:cNvSpPr>
          <p:nvPr>
            <p:ph type="title"/>
          </p:nvPr>
        </p:nvSpPr>
        <p:spPr bwMode="auto">
          <a:xfrm>
            <a:off x="6897347" y="727273"/>
            <a:ext cx="3487879" cy="859783"/>
          </a:xfrm>
        </p:spPr>
        <p:txBody>
          <a:bodyPr/>
          <a:lstStyle/>
          <a:p>
            <a:pPr>
              <a:defRPr/>
            </a:pPr>
            <a:r>
              <a:rPr lang="ru-RU" sz="2400" dirty="0" smtClean="0">
                <a:solidFill>
                  <a:schemeClr val="accent5"/>
                </a:solidFill>
                <a:latin typeface="Montserrat"/>
              </a:rPr>
              <a:t>КОМАНДА </a:t>
            </a:r>
            <a:br>
              <a:rPr lang="ru-RU" sz="2400" dirty="0" smtClean="0">
                <a:solidFill>
                  <a:schemeClr val="accent5"/>
                </a:solidFill>
                <a:latin typeface="Montserrat"/>
              </a:rPr>
            </a:br>
            <a:r>
              <a:rPr lang="ru-RU" sz="2400" dirty="0" smtClean="0">
                <a:solidFill>
                  <a:schemeClr val="accent5"/>
                </a:solidFill>
                <a:latin typeface="Montserrat"/>
              </a:rPr>
              <a:t>«ВЕКТОР КОДА»</a:t>
            </a:r>
            <a:endParaRPr lang="ru-RU" sz="2400" dirty="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25995058" name="Прямая соединительная линия 6"/>
          <p:cNvCxnSpPr/>
          <p:nvPr/>
        </p:nvCxnSpPr>
        <p:spPr bwMode="auto">
          <a:xfrm>
            <a:off x="7087802" y="163806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841257" name="Прямая соединительная линия 15"/>
          <p:cNvCxnSpPr/>
          <p:nvPr/>
        </p:nvCxnSpPr>
        <p:spPr bwMode="auto">
          <a:xfrm>
            <a:off x="6927717" y="3838720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49397844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46028787" name="Текст 8"/>
          <p:cNvSpPr txBox="1"/>
          <p:nvPr/>
        </p:nvSpPr>
        <p:spPr bwMode="auto">
          <a:xfrm>
            <a:off x="6837640" y="3883009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  <a:endParaRPr dirty="0"/>
          </a:p>
        </p:txBody>
      </p:sp>
      <p:sp>
        <p:nvSpPr>
          <p:cNvPr id="949085119" name="Текст 8"/>
          <p:cNvSpPr txBox="1"/>
          <p:nvPr/>
        </p:nvSpPr>
        <p:spPr bwMode="auto">
          <a:xfrm>
            <a:off x="6747501" y="2046927"/>
            <a:ext cx="4945565" cy="181797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7030A0"/>
                </a:solidFill>
              </a:rPr>
              <a:t>Мобильное приложение для формирования базовых финансовых навыков у детей 7–11 лет через игровую механику с виртуальным питомцем.</a:t>
            </a:r>
          </a:p>
          <a:p>
            <a:r>
              <a:rPr lang="ru-RU" dirty="0">
                <a:solidFill>
                  <a:srgbClr val="7030A0"/>
                </a:solidFill>
              </a:rPr>
              <a:t>Ребёнок создаёт собственного питомца (по умолчанию «Тоби», но имя можно изменить на любое), зарабатывает игровые монеты, выполняя задания, учится распределять бюджет по трём направлениям (обязательные расходы, желания, накопления) и копит на мечту вместе с персонажем-помощником - копилкой «Ананасом Татьяной».</a:t>
            </a:r>
          </a:p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endParaRPr dirty="0">
              <a:solidFill>
                <a:srgbClr val="7030A0"/>
              </a:solidFill>
            </a:endParaRPr>
          </a:p>
        </p:txBody>
      </p:sp>
      <p:sp>
        <p:nvSpPr>
          <p:cNvPr id="171386336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3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367851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94273238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b="1" dirty="0">
                <a:solidFill>
                  <a:srgbClr val="002060"/>
                </a:solidFill>
              </a:rPr>
              <a:t>Сценарист и </a:t>
            </a:r>
            <a:r>
              <a:rPr lang="ru-RU" b="1" dirty="0" err="1">
                <a:solidFill>
                  <a:srgbClr val="002060"/>
                </a:solidFill>
              </a:rPr>
              <a:t>нарративный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smtClean="0">
                <a:solidFill>
                  <a:srgbClr val="002060"/>
                </a:solidFill>
              </a:rPr>
              <a:t>дизайнер, редактор, интегратор</a:t>
            </a:r>
            <a:r>
              <a:rPr lang="ru-RU" dirty="0" smtClean="0">
                <a:solidFill>
                  <a:srgbClr val="002060"/>
                </a:solidFill>
              </a:rPr>
              <a:t>.</a:t>
            </a:r>
            <a:r>
              <a:rPr lang="ru-RU" dirty="0">
                <a:solidFill>
                  <a:srgbClr val="002060"/>
                </a:solidFill>
              </a:rPr>
              <a:t>  </a:t>
            </a:r>
            <a:endParaRPr lang="ru-RU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@</a:t>
            </a:r>
            <a:r>
              <a:rPr lang="en-US" sz="1200" dirty="0" err="1" smtClean="0">
                <a:solidFill>
                  <a:schemeClr val="tx1"/>
                </a:solidFill>
              </a:rPr>
              <a:t>InnaGazi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89117766693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 smtClean="0">
                <a:solidFill>
                  <a:schemeClr val="tx1"/>
                </a:solidFill>
              </a:rPr>
              <a:t>ОГТИ, ОГУ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955704266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 smtClean="0">
                <a:solidFill>
                  <a:schemeClr val="accent5"/>
                </a:solidFill>
              </a:rPr>
              <a:t>Инна Старикова</a:t>
            </a:r>
            <a:endParaRPr dirty="0"/>
          </a:p>
        </p:txBody>
      </p:sp>
      <p:sp>
        <p:nvSpPr>
          <p:cNvPr id="479574749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3197986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r>
              <a:rPr lang="ru-RU" b="1" dirty="0" smtClean="0">
                <a:solidFill>
                  <a:schemeClr val="accent2"/>
                </a:solidFill>
              </a:rPr>
              <a:t>\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20818791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4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3" name="Рисунок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7" b="6627"/>
          <a:stretch>
            <a:fillRect/>
          </a:stretch>
        </p:blipFill>
        <p:spPr bwMode="auto">
          <a:xfrm>
            <a:off x="581025" y="1816100"/>
            <a:ext cx="1722438" cy="1552575"/>
          </a:xfrm>
        </p:spPr>
      </p:pic>
      <p:pic>
        <p:nvPicPr>
          <p:cNvPr id="2" name="Рисунок 1"/>
          <p:cNvPicPr>
            <a:picLocks noGrp="1" noChangeAspect="1"/>
          </p:cNvPicPr>
          <p:nvPr>
            <p:ph type="pic"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1" b="4291"/>
          <a:stretch>
            <a:fillRect/>
          </a:stretch>
        </p:blipFill>
        <p:spPr bwMode="auto">
          <a:xfrm>
            <a:off x="2886075" y="1827213"/>
            <a:ext cx="1722438" cy="1541462"/>
          </a:xfrm>
        </p:spPr>
      </p:pic>
      <p:sp>
        <p:nvSpPr>
          <p:cNvPr id="1653025502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 smtClean="0">
                <a:latin typeface="Montserrat"/>
              </a:rPr>
              <a:t>КОМАНДА «ВЕКТОР КОДА»</a:t>
            </a:r>
            <a:endParaRPr lang="ru-RU" dirty="0">
              <a:latin typeface="Montserrat"/>
            </a:endParaRPr>
          </a:p>
        </p:txBody>
      </p:sp>
      <p:sp>
        <p:nvSpPr>
          <p:cNvPr id="1536435009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b="1" dirty="0">
                <a:solidFill>
                  <a:srgbClr val="002060"/>
                </a:solidFill>
              </a:rPr>
              <a:t>Капитан команды, </a:t>
            </a:r>
            <a:r>
              <a:rPr lang="ru-RU" b="1" dirty="0" err="1">
                <a:solidFill>
                  <a:srgbClr val="002060"/>
                </a:solidFill>
              </a:rPr>
              <a:t>Tech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Lead</a:t>
            </a:r>
            <a:r>
              <a:rPr lang="ru-RU" b="1" dirty="0">
                <a:solidFill>
                  <a:srgbClr val="002060"/>
                </a:solidFill>
              </a:rPr>
              <a:t> и автор методической базы </a:t>
            </a:r>
            <a:endParaRPr lang="ru-RU" b="1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@</a:t>
            </a:r>
            <a:r>
              <a:rPr lang="en-US" sz="1200" dirty="0" err="1" smtClean="0">
                <a:solidFill>
                  <a:schemeClr val="tx1"/>
                </a:solidFill>
              </a:rPr>
              <a:t>Magicstalker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89119591478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 smtClean="0">
                <a:solidFill>
                  <a:schemeClr val="tx1"/>
                </a:solidFill>
              </a:rPr>
              <a:t>ЛГУ, ОГТИ</a:t>
            </a:r>
            <a:endParaRPr dirty="0"/>
          </a:p>
        </p:txBody>
      </p:sp>
      <p:sp>
        <p:nvSpPr>
          <p:cNvPr id="309859290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 smtClean="0">
                <a:solidFill>
                  <a:schemeClr val="accent5"/>
                </a:solidFill>
              </a:rPr>
              <a:t>Жанна </a:t>
            </a:r>
            <a:r>
              <a:rPr lang="ru-RU" sz="1600" b="1" dirty="0" err="1" smtClean="0">
                <a:solidFill>
                  <a:schemeClr val="accent5"/>
                </a:solidFill>
              </a:rPr>
              <a:t>Калеева</a:t>
            </a:r>
            <a:endParaRPr dirty="0"/>
          </a:p>
        </p:txBody>
      </p:sp>
      <p:sp>
        <p:nvSpPr>
          <p:cNvPr id="27" name="Скругленный прямоугольник 55"/>
          <p:cNvSpPr/>
          <p:nvPr/>
        </p:nvSpPr>
        <p:spPr bwMode="auto">
          <a:xfrm>
            <a:off x="7195028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8" name="Текст 8"/>
          <p:cNvSpPr txBox="1"/>
          <p:nvPr/>
        </p:nvSpPr>
        <p:spPr bwMode="auto">
          <a:xfrm>
            <a:off x="7422244" y="4709977"/>
            <a:ext cx="1894354" cy="163006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dirty="0" smtClean="0">
                <a:solidFill>
                  <a:srgbClr val="7030A0"/>
                </a:solidFill>
              </a:rPr>
              <a:t>Виртуальный 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ru-RU" dirty="0" smtClean="0">
                <a:solidFill>
                  <a:srgbClr val="7030A0"/>
                </a:solidFill>
              </a:rPr>
              <a:t>питомец</a:t>
            </a:r>
            <a:r>
              <a:rPr lang="ru-RU" dirty="0">
                <a:solidFill>
                  <a:srgbClr val="7030A0"/>
                </a:solidFill>
              </a:rPr>
              <a:t>, чей рост зависит от твоего бюджета.</a:t>
            </a:r>
            <a:endParaRPr lang="ru-RU" sz="1200" dirty="0">
              <a:solidFill>
                <a:srgbClr val="7030A0"/>
              </a:solidFill>
            </a:endParaRPr>
          </a:p>
        </p:txBody>
      </p:sp>
      <p:sp>
        <p:nvSpPr>
          <p:cNvPr id="29" name="Текст 8"/>
          <p:cNvSpPr txBox="1"/>
          <p:nvPr/>
        </p:nvSpPr>
        <p:spPr bwMode="auto">
          <a:xfrm>
            <a:off x="7558518" y="3977173"/>
            <a:ext cx="1722566" cy="53100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 smtClean="0">
                <a:solidFill>
                  <a:schemeClr val="accent5"/>
                </a:solidFill>
              </a:rPr>
              <a:t>Финансовый питомец (Тоби)</a:t>
            </a:r>
            <a:endParaRPr dirty="0"/>
          </a:p>
        </p:txBody>
      </p:sp>
      <p:sp>
        <p:nvSpPr>
          <p:cNvPr id="31" name="Скругленный прямоугольник 55"/>
          <p:cNvSpPr/>
          <p:nvPr/>
        </p:nvSpPr>
        <p:spPr bwMode="auto">
          <a:xfrm>
            <a:off x="957568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2" name="Текст 8"/>
          <p:cNvSpPr txBox="1"/>
          <p:nvPr/>
        </p:nvSpPr>
        <p:spPr bwMode="auto">
          <a:xfrm>
            <a:off x="9717404" y="4668414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  <a:defRPr/>
            </a:pPr>
            <a:r>
              <a:rPr lang="ru-RU" dirty="0" smtClean="0">
                <a:solidFill>
                  <a:srgbClr val="7030A0"/>
                </a:solidFill>
              </a:rPr>
              <a:t>Надежная </a:t>
            </a:r>
            <a:r>
              <a:rPr lang="ru-RU" dirty="0">
                <a:solidFill>
                  <a:srgbClr val="7030A0"/>
                </a:solidFill>
              </a:rPr>
              <a:t>копилка, сохраняющая монеты для исполнения большой мечты.</a:t>
            </a:r>
            <a:endParaRPr lang="ru-RU" sz="1200" dirty="0">
              <a:solidFill>
                <a:srgbClr val="7030A0"/>
              </a:solidFill>
            </a:endParaRPr>
          </a:p>
        </p:txBody>
      </p:sp>
      <p:sp>
        <p:nvSpPr>
          <p:cNvPr id="33" name="Текст 8"/>
          <p:cNvSpPr txBox="1"/>
          <p:nvPr/>
        </p:nvSpPr>
        <p:spPr bwMode="auto">
          <a:xfrm>
            <a:off x="9717404" y="3977173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 smtClean="0">
                <a:solidFill>
                  <a:schemeClr val="accent5"/>
                </a:solidFill>
              </a:rPr>
              <a:t>Копилка </a:t>
            </a:r>
          </a:p>
          <a:p>
            <a:pPr marL="0" indent="0">
              <a:buNone/>
              <a:defRPr/>
            </a:pPr>
            <a:r>
              <a:rPr lang="ru-RU" sz="1600" b="1" dirty="0" smtClean="0">
                <a:solidFill>
                  <a:schemeClr val="accent5"/>
                </a:solidFill>
              </a:rPr>
              <a:t>Ананас Татьяна</a:t>
            </a:r>
            <a:endParaRPr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6390" y="1588755"/>
            <a:ext cx="1156381" cy="243649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244" y="1801906"/>
            <a:ext cx="1773695" cy="20101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38376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20620656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75847582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 smtClean="0">
                <a:latin typeface="Montserrat"/>
              </a:rPr>
              <a:t>КОМАНДА «ВЕКТОР КОДА»</a:t>
            </a:r>
            <a:endParaRPr lang="ru-RU" dirty="0">
              <a:latin typeface="Montserrat"/>
            </a:endParaRPr>
          </a:p>
        </p:txBody>
      </p:sp>
      <p:sp>
        <p:nvSpPr>
          <p:cNvPr id="970509209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513263"/>
            <a:ext cx="11626551" cy="9482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 smtClean="0">
                <a:solidFill>
                  <a:srgbClr val="002060"/>
                </a:solidFill>
              </a:rPr>
              <a:t>Нашу </a:t>
            </a:r>
            <a:r>
              <a:rPr lang="ru-RU" dirty="0">
                <a:solidFill>
                  <a:srgbClr val="002060"/>
                </a:solidFill>
              </a:rPr>
              <a:t>команду составляют Жанна </a:t>
            </a:r>
            <a:r>
              <a:rPr lang="ru-RU" dirty="0" err="1">
                <a:solidFill>
                  <a:srgbClr val="002060"/>
                </a:solidFill>
              </a:rPr>
              <a:t>Калеева</a:t>
            </a:r>
            <a:r>
              <a:rPr lang="ru-RU" dirty="0">
                <a:solidFill>
                  <a:srgbClr val="002060"/>
                </a:solidFill>
              </a:rPr>
              <a:t> (кандидат наук, профессор РАЕ, обладатель диплома «Специалист по внедрению систем ИИ» от «Азбука цифры») и Инна Старикова </a:t>
            </a:r>
            <a:r>
              <a:rPr lang="ru-RU" dirty="0" smtClean="0">
                <a:solidFill>
                  <a:srgbClr val="002060"/>
                </a:solidFill>
              </a:rPr>
              <a:t>(редактор, сценарист</a:t>
            </a:r>
            <a:r>
              <a:rPr lang="ru-RU" dirty="0">
                <a:solidFill>
                  <a:srgbClr val="002060"/>
                </a:solidFill>
              </a:rPr>
              <a:t>, </a:t>
            </a:r>
            <a:r>
              <a:rPr lang="ru-RU" dirty="0" err="1">
                <a:solidFill>
                  <a:srgbClr val="002060"/>
                </a:solidFill>
              </a:rPr>
              <a:t>нарративный</a:t>
            </a:r>
            <a:r>
              <a:rPr lang="ru-RU" dirty="0">
                <a:solidFill>
                  <a:srgbClr val="002060"/>
                </a:solidFill>
              </a:rPr>
              <a:t> дизайнер, член Союза Писателей). Мы создаем продукт на стыке технологий и педагогики, используя авторские иллюстрации художницы Маринетт </a:t>
            </a:r>
            <a:r>
              <a:rPr lang="ru-RU" dirty="0" err="1" smtClean="0">
                <a:solidFill>
                  <a:srgbClr val="002060"/>
                </a:solidFill>
              </a:rPr>
              <a:t>Мортем</a:t>
            </a:r>
            <a:r>
              <a:rPr lang="ru-RU" dirty="0" smtClean="0">
                <a:solidFill>
                  <a:srgbClr val="002060"/>
                </a:solidFill>
              </a:rPr>
              <a:t>, дочери капитана команды, </a:t>
            </a:r>
            <a:r>
              <a:rPr lang="ru-RU" dirty="0">
                <a:solidFill>
                  <a:srgbClr val="002060"/>
                </a:solidFill>
              </a:rPr>
              <a:t>переданные в проект с полного согласия автора.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2040333086" name="Текст 8"/>
          <p:cNvSpPr txBox="1"/>
          <p:nvPr/>
        </p:nvSpPr>
        <p:spPr bwMode="auto">
          <a:xfrm>
            <a:off x="533607" y="1109887"/>
            <a:ext cx="3096284" cy="36450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  <a:endParaRPr dirty="0"/>
          </a:p>
        </p:txBody>
      </p:sp>
      <p:sp>
        <p:nvSpPr>
          <p:cNvPr id="1989292362" name="Текст 8"/>
          <p:cNvSpPr txBox="1"/>
          <p:nvPr/>
        </p:nvSpPr>
        <p:spPr bwMode="auto">
          <a:xfrm>
            <a:off x="533607" y="5139254"/>
            <a:ext cx="11159629" cy="12037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rgbClr val="002060"/>
                </a:solidFill>
              </a:rPr>
              <a:t>Главной сложностью стала адаптация глубокого контента нашей книги «Жанна экономит» в увлекательный игровой формат для детей 7–11 лет, что мы решили благодаря синергии моей методической базы и </a:t>
            </a:r>
            <a:r>
              <a:rPr lang="ru-RU" dirty="0" err="1">
                <a:solidFill>
                  <a:srgbClr val="002060"/>
                </a:solidFill>
              </a:rPr>
              <a:t>нарративного</a:t>
            </a:r>
            <a:r>
              <a:rPr lang="ru-RU" dirty="0">
                <a:solidFill>
                  <a:srgbClr val="002060"/>
                </a:solidFill>
              </a:rPr>
              <a:t> дизайна Инны. Столкнувшись с ограничениями по установке специализированного ПО, мы успешно преодолели это, создав полноценный интерактивный прототип в </a:t>
            </a:r>
            <a:r>
              <a:rPr lang="ru-RU" dirty="0" err="1">
                <a:solidFill>
                  <a:srgbClr val="002060"/>
                </a:solidFill>
              </a:rPr>
              <a:t>Figma</a:t>
            </a:r>
            <a:r>
              <a:rPr lang="ru-RU" dirty="0">
                <a:solidFill>
                  <a:srgbClr val="002060"/>
                </a:solidFill>
              </a:rPr>
              <a:t>, который полностью закрывает все требования ТЗ.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278498454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  <a:endParaRPr dirty="0"/>
          </a:p>
        </p:txBody>
      </p:sp>
      <p:sp>
        <p:nvSpPr>
          <p:cNvPr id="43871110" name="Текст 8"/>
          <p:cNvSpPr txBox="1"/>
          <p:nvPr/>
        </p:nvSpPr>
        <p:spPr bwMode="auto">
          <a:xfrm>
            <a:off x="533607" y="3429000"/>
            <a:ext cx="11159629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rgbClr val="002060"/>
                </a:solidFill>
              </a:rPr>
              <a:t>Мы — сёстры, объединившие уникальный опыт: </a:t>
            </a:r>
            <a:r>
              <a:rPr lang="ru-RU" dirty="0" smtClean="0">
                <a:solidFill>
                  <a:srgbClr val="002060"/>
                </a:solidFill>
              </a:rPr>
              <a:t>Жанна - </a:t>
            </a:r>
            <a:r>
              <a:rPr lang="ru-RU" dirty="0">
                <a:solidFill>
                  <a:srgbClr val="002060"/>
                </a:solidFill>
              </a:rPr>
              <a:t>кандидат наук и автор методической книги «Жанна экономит», </a:t>
            </a:r>
            <a:r>
              <a:rPr lang="ru-RU" dirty="0" smtClean="0">
                <a:solidFill>
                  <a:srgbClr val="002060"/>
                </a:solidFill>
              </a:rPr>
              <a:t>Инна - </a:t>
            </a:r>
            <a:r>
              <a:rPr lang="ru-RU" dirty="0">
                <a:solidFill>
                  <a:srgbClr val="002060"/>
                </a:solidFill>
              </a:rPr>
              <a:t>сестра — профессиональный редактор, журналист, сценарист и </a:t>
            </a:r>
            <a:r>
              <a:rPr lang="ru-RU" dirty="0" err="1">
                <a:solidFill>
                  <a:srgbClr val="002060"/>
                </a:solidFill>
              </a:rPr>
              <a:t>нарративный</a:t>
            </a:r>
            <a:r>
              <a:rPr lang="ru-RU" dirty="0">
                <a:solidFill>
                  <a:srgbClr val="002060"/>
                </a:solidFill>
              </a:rPr>
              <a:t> дизайнер. Мы выбрали эту задачу, потому что она идеально соединяет </a:t>
            </a:r>
            <a:r>
              <a:rPr lang="ru-RU" dirty="0" smtClean="0">
                <a:solidFill>
                  <a:srgbClr val="002060"/>
                </a:solidFill>
              </a:rPr>
              <a:t>авторскую </a:t>
            </a:r>
            <a:r>
              <a:rPr lang="ru-RU" dirty="0">
                <a:solidFill>
                  <a:srgbClr val="002060"/>
                </a:solidFill>
              </a:rPr>
              <a:t>методику финансовой грамотности с её умением превращать сложные концепции в увлекательные игровые сценарии для детей.</a:t>
            </a:r>
          </a:p>
          <a:p>
            <a:pPr marL="0" indent="0">
              <a:lnSpc>
                <a:spcPct val="100000"/>
              </a:lnSpc>
              <a:buNone/>
              <a:defRPr/>
            </a:pPr>
            <a:endParaRPr dirty="0"/>
          </a:p>
        </p:txBody>
      </p:sp>
      <p:sp>
        <p:nvSpPr>
          <p:cNvPr id="95446486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</a:t>
            </a:r>
            <a:r>
              <a:rPr lang="ru-RU" b="1" dirty="0" err="1">
                <a:solidFill>
                  <a:schemeClr val="accent5"/>
                </a:solidFill>
              </a:rPr>
              <a:t>хакатоне</a:t>
            </a:r>
            <a:r>
              <a:rPr lang="ru-RU" b="1" dirty="0">
                <a:solidFill>
                  <a:schemeClr val="accent5"/>
                </a:solidFill>
              </a:rPr>
              <a:t>?</a:t>
            </a:r>
            <a:endParaRPr dirty="0"/>
          </a:p>
        </p:txBody>
      </p:sp>
      <p:cxnSp>
        <p:nvCxnSpPr>
          <p:cNvPr id="89988745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3014797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4416087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78131540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206238015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430113599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341906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53707092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948797484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646807"/>
          </a:xfrm>
        </p:spPr>
        <p:txBody>
          <a:bodyPr/>
          <a:lstStyle/>
          <a:p>
            <a:pPr>
              <a:defRPr/>
            </a:pPr>
            <a:r>
              <a:rPr lang="ru-RU" sz="3500" dirty="0">
                <a:solidFill>
                  <a:schemeClr val="accent1"/>
                </a:solidFill>
              </a:rPr>
              <a:t>Описание </a:t>
            </a:r>
            <a:r>
              <a:rPr lang="ru-RU" sz="3500" dirty="0" smtClean="0">
                <a:solidFill>
                  <a:schemeClr val="accent1"/>
                </a:solidFill>
              </a:rPr>
              <a:t>проекта</a:t>
            </a:r>
            <a:endParaRPr lang="ru-RU" sz="3500" dirty="0">
              <a:solidFill>
                <a:schemeClr val="accent1"/>
              </a:solidFill>
            </a:endParaRPr>
          </a:p>
        </p:txBody>
      </p:sp>
      <p:pic>
        <p:nvPicPr>
          <p:cNvPr id="2" name="Рисунок 1"/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2" b="2632"/>
          <a:stretch>
            <a:fillRect/>
          </a:stretch>
        </p:blipFill>
        <p:spPr bwMode="auto">
          <a:xfrm>
            <a:off x="6096000" y="0"/>
            <a:ext cx="6096000" cy="6858000"/>
          </a:xfrm>
        </p:spPr>
      </p:pic>
      <p:sp>
        <p:nvSpPr>
          <p:cNvPr id="90838477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374577"/>
            <a:ext cx="4807840" cy="4717356"/>
          </a:xfrm>
        </p:spPr>
        <p:txBody>
          <a:bodyPr>
            <a:noAutofit/>
          </a:bodyPr>
          <a:lstStyle/>
          <a:p>
            <a:r>
              <a:rPr lang="ru-RU" sz="2000" dirty="0">
                <a:solidFill>
                  <a:srgbClr val="7030A0"/>
                </a:solidFill>
              </a:rPr>
              <a:t>Мобильное приложение для формирования базовых финансовых навыков у детей 7–11 лет через игровую механику с виртуальным питомцем.</a:t>
            </a:r>
          </a:p>
          <a:p>
            <a:r>
              <a:rPr lang="ru-RU" sz="2000" dirty="0">
                <a:solidFill>
                  <a:srgbClr val="7030A0"/>
                </a:solidFill>
              </a:rPr>
              <a:t>Ребёнок создаёт собственного питомца (по умолчанию «Тоби», но имя можно изменить на любое), зарабатывает игровые монеты, выполняя задания, учится распределять бюджет по трём направлениям (обязательные расходы, желания, накопления) и копит на мечту вместе с персонажем-помощником - копилкой «Ананасом Татьяной».</a:t>
            </a:r>
          </a:p>
          <a:p>
            <a:pPr marL="0" indent="0">
              <a:buNone/>
            </a:pPr>
            <a:endParaRPr lang="ru-RU" sz="2100" dirty="0">
              <a:solidFill>
                <a:srgbClr val="7030A0"/>
              </a:solidFill>
            </a:endParaRPr>
          </a:p>
          <a:p>
            <a:pPr>
              <a:defRPr/>
            </a:pPr>
            <a:endParaRPr lang="ru-RU" sz="21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455785" name="Скругленный прямоугольник 1"/>
          <p:cNvSpPr/>
          <p:nvPr/>
        </p:nvSpPr>
        <p:spPr bwMode="auto">
          <a:xfrm>
            <a:off x="346075" y="324562"/>
            <a:ext cx="5069636" cy="603693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1120771118" name="Group 82"/>
          <p:cNvGrpSpPr>
            <a:grpSpLocks noChangeAspect="1"/>
          </p:cNvGrpSpPr>
          <p:nvPr/>
        </p:nvGrpSpPr>
        <p:grpSpPr bwMode="auto"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www.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lider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.com</a:t>
              </a:r>
              <a:endParaRPr/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grpSp>
        <p:nvGrpSpPr>
          <p:cNvPr id="762599596" name="Group 82"/>
          <p:cNvGrpSpPr>
            <a:grpSpLocks noChangeAspect="1"/>
          </p:cNvGrpSpPr>
          <p:nvPr/>
        </p:nvGrpSpPr>
        <p:grpSpPr bwMode="auto">
          <a:xfrm>
            <a:off x="6756527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sp>
        <p:nvSpPr>
          <p:cNvPr id="606915910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32311566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300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Тоби:</a:t>
            </a:r>
            <a:r>
              <a:rPr lang="ru-RU" sz="23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  <a:endParaRPr lang="ru-RU" sz="2300" dirty="0" smtClean="0">
              <a:solidFill>
                <a:schemeClr val="accent6">
                  <a:lumMod val="90000"/>
                  <a:lumOff val="10000"/>
                </a:schemeClr>
              </a:solidFill>
            </a:endParaRPr>
          </a:p>
          <a:p>
            <a:pPr marL="0" indent="0">
              <a:buNone/>
              <a:defRPr/>
            </a:pPr>
            <a:r>
              <a:rPr lang="ru-RU" sz="2300" dirty="0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Виртуальный </a:t>
            </a:r>
            <a:r>
              <a:rPr lang="ru-RU" sz="23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питомец, чей рост зависит от твоего бюджета</a:t>
            </a:r>
            <a:endParaRPr lang="ru-RU" sz="23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59519151" name="Текст 3"/>
          <p:cNvSpPr>
            <a:spLocks noGrp="1"/>
          </p:cNvSpPr>
          <p:nvPr>
            <p:ph type="body" sz="quarter" idx="16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2300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Ананас Татьяна:</a:t>
            </a:r>
            <a:r>
              <a:rPr lang="ru-RU" sz="23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Надежная копилка, сохраняющая монеты для исполнения большой мечты.</a:t>
            </a:r>
            <a:endParaRPr lang="ru-RU" sz="23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48080404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Идея продукта и механика </a:t>
            </a:r>
            <a:r>
              <a:rPr lang="ru-RU" dirty="0" smtClean="0"/>
              <a:t>питомца</a:t>
            </a:r>
            <a:endParaRPr lang="ru-RU" dirty="0"/>
          </a:p>
        </p:txBody>
      </p:sp>
      <p:pic>
        <p:nvPicPr>
          <p:cNvPr id="5" name="Рисунок 4"/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45" b="25545"/>
          <a:stretch>
            <a:fillRect/>
          </a:stretch>
        </p:blipFill>
        <p:spPr>
          <a:xfrm>
            <a:off x="1210642" y="1410532"/>
            <a:ext cx="4121688" cy="2283975"/>
          </a:xfrm>
        </p:spPr>
      </p:pic>
      <p:pic>
        <p:nvPicPr>
          <p:cNvPr id="606915905" name="Рисунок 606915904"/>
          <p:cNvPicPr>
            <a:picLocks noGrp="1" noChangeAspect="1"/>
          </p:cNvPicPr>
          <p:nvPr>
            <p:ph type="pic" sz="quarter" idx="18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5" b="5025"/>
          <a:stretch>
            <a:fillRect/>
          </a:stretch>
        </p:blipFill>
        <p:spPr>
          <a:xfrm>
            <a:off x="6856087" y="1449912"/>
            <a:ext cx="4121688" cy="2283975"/>
          </a:xfr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395431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19624483" name="Скругленный прямоугольник 23"/>
          <p:cNvSpPr/>
          <p:nvPr/>
        </p:nvSpPr>
        <p:spPr bwMode="auto">
          <a:xfrm>
            <a:off x="5967636" y="1211284"/>
            <a:ext cx="6004990" cy="5510198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08809400" name="Скругленный прямоугольник 26"/>
          <p:cNvSpPr/>
          <p:nvPr/>
        </p:nvSpPr>
        <p:spPr bwMode="auto">
          <a:xfrm>
            <a:off x="346075" y="1211284"/>
            <a:ext cx="5440313" cy="5510198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48854003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8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2919607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375374" y="5815473"/>
            <a:ext cx="3525278" cy="3772704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400" dirty="0" smtClean="0">
                <a:solidFill>
                  <a:schemeClr val="tx1"/>
                </a:solidFill>
              </a:rPr>
              <a:t> </a:t>
            </a:r>
            <a:endParaRPr dirty="0"/>
          </a:p>
        </p:txBody>
      </p:sp>
      <p:sp>
        <p:nvSpPr>
          <p:cNvPr id="496511034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184308" y="1460091"/>
            <a:ext cx="5543929" cy="5102240"/>
          </a:xfrm>
        </p:spPr>
        <p:txBody>
          <a:bodyPr>
            <a:noAutofit/>
          </a:bodyPr>
          <a:lstStyle/>
          <a:p>
            <a:endParaRPr lang="ru-RU" sz="1400" dirty="0" smtClean="0">
              <a:solidFill>
                <a:srgbClr val="7030A0"/>
              </a:solidFill>
            </a:endParaRPr>
          </a:p>
          <a:p>
            <a:r>
              <a:rPr lang="ru-RU" sz="1500" dirty="0" smtClean="0">
                <a:solidFill>
                  <a:srgbClr val="7030A0"/>
                </a:solidFill>
              </a:rPr>
              <a:t>Проект </a:t>
            </a:r>
            <a:r>
              <a:rPr lang="ru-RU" sz="1500" dirty="0">
                <a:solidFill>
                  <a:srgbClr val="7030A0"/>
                </a:solidFill>
              </a:rPr>
              <a:t>масштабируется в экосистему финансового воспитания: от мобильного приложения для детей 7–11 лет — к взрослой версии на базе авторской книги «Жанна экономит» </a:t>
            </a:r>
            <a:r>
              <a:rPr lang="ru-RU" sz="1500" dirty="0" smtClean="0">
                <a:solidFill>
                  <a:srgbClr val="7030A0"/>
                </a:solidFill>
              </a:rPr>
              <a:t>и </a:t>
            </a:r>
            <a:r>
              <a:rPr lang="ru-RU" sz="1500" dirty="0">
                <a:solidFill>
                  <a:srgbClr val="7030A0"/>
                </a:solidFill>
              </a:rPr>
              <a:t>развитию </a:t>
            </a:r>
            <a:r>
              <a:rPr lang="ru-RU" sz="1500" dirty="0" err="1">
                <a:solidFill>
                  <a:srgbClr val="7030A0"/>
                </a:solidFill>
              </a:rPr>
              <a:t>фандома</a:t>
            </a:r>
            <a:r>
              <a:rPr lang="ru-RU" sz="1500" dirty="0">
                <a:solidFill>
                  <a:srgbClr val="7030A0"/>
                </a:solidFill>
              </a:rPr>
              <a:t> художницы Маринетт </a:t>
            </a:r>
            <a:r>
              <a:rPr lang="ru-RU" sz="1500" dirty="0" err="1" smtClean="0">
                <a:solidFill>
                  <a:srgbClr val="7030A0"/>
                </a:solidFill>
              </a:rPr>
              <a:t>Мортем</a:t>
            </a:r>
            <a:r>
              <a:rPr lang="ru-RU" sz="1500" dirty="0" smtClean="0">
                <a:solidFill>
                  <a:srgbClr val="7030A0"/>
                </a:solidFill>
              </a:rPr>
              <a:t>.</a:t>
            </a:r>
          </a:p>
          <a:p>
            <a:r>
              <a:rPr lang="ru-RU" sz="2000" b="1" dirty="0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B2G </a:t>
            </a:r>
            <a:r>
              <a:rPr lang="ru-RU" sz="2000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(Государственный сектор):</a:t>
            </a:r>
            <a:r>
              <a:rPr lang="ru-RU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Интеграция приложения в уроки финансовой грамотности в школах Москвы, сотрудничество с проектом «Урок цифры» и порталом «Открытый бюджет города Москвы».</a:t>
            </a:r>
          </a:p>
          <a:p>
            <a:r>
              <a:rPr lang="ru-RU" sz="2000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Методическая поддержка:</a:t>
            </a:r>
            <a:r>
              <a:rPr lang="ru-RU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Выпуск сопутствующих пособий для учителей и родителей на базе механик приложения.</a:t>
            </a:r>
          </a:p>
          <a:p>
            <a:r>
              <a:rPr lang="ru-RU" sz="2000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Масштабирование:</a:t>
            </a:r>
            <a:r>
              <a:rPr lang="ru-RU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Адаптация контента под разные возрастные группы (7-9 и 10-11 лет) и расширение библиотеки заданий на базе книги.</a:t>
            </a:r>
          </a:p>
          <a:p>
            <a:endParaRPr lang="ru-RU" sz="1400" dirty="0">
              <a:solidFill>
                <a:srgbClr val="7030A0"/>
              </a:solidFill>
            </a:endParaRPr>
          </a:p>
        </p:txBody>
      </p:sp>
      <p:sp>
        <p:nvSpPr>
          <p:cNvPr id="205113129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477356034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7323" y="1195822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1"/>
                </a:solidFill>
              </a:rPr>
              <a:t>Техническая суть решения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519341561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300940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1"/>
                </a:solidFill>
              </a:rPr>
              <a:t>Маркетинговая суть решения</a:t>
            </a:r>
            <a:endParaRPr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defRPr/>
            </a:pP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27322" y="1668683"/>
            <a:ext cx="4929862" cy="48320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sz="2000" b="1" dirty="0">
                <a:solidFill>
                  <a:srgbClr val="7030A0"/>
                </a:solidFill>
              </a:rPr>
              <a:t>Текущий этап:</a:t>
            </a:r>
            <a:r>
              <a:rPr lang="ru-RU" sz="2000" dirty="0">
                <a:solidFill>
                  <a:srgbClr val="7030A0"/>
                </a:solidFill>
              </a:rPr>
              <a:t> Интерактивный кликабельный прототип в </a:t>
            </a:r>
            <a:r>
              <a:rPr lang="ru-RU" sz="2000" dirty="0" err="1">
                <a:solidFill>
                  <a:srgbClr val="7030A0"/>
                </a:solidFill>
              </a:rPr>
              <a:t>Figma</a:t>
            </a:r>
            <a:r>
              <a:rPr lang="ru-RU" sz="2000" dirty="0">
                <a:solidFill>
                  <a:srgbClr val="7030A0"/>
                </a:solidFill>
              </a:rPr>
              <a:t> (5 ключевых экранов, полный сценарий).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Финальный стек:</a:t>
            </a:r>
            <a:r>
              <a:rPr lang="ru-RU" sz="2000" dirty="0">
                <a:solidFill>
                  <a:srgbClr val="7030A0"/>
                </a:solidFill>
              </a:rPr>
              <a:t> </a:t>
            </a:r>
            <a:r>
              <a:rPr lang="ru-RU" sz="2000" dirty="0" err="1">
                <a:solidFill>
                  <a:srgbClr val="7030A0"/>
                </a:solidFill>
              </a:rPr>
              <a:t>Нативная</a:t>
            </a:r>
            <a:r>
              <a:rPr lang="ru-RU" sz="2000" dirty="0">
                <a:solidFill>
                  <a:srgbClr val="7030A0"/>
                </a:solidFill>
              </a:rPr>
              <a:t> разработка на </a:t>
            </a:r>
            <a:r>
              <a:rPr lang="ru-RU" sz="2000" dirty="0" err="1">
                <a:solidFill>
                  <a:srgbClr val="7030A0"/>
                </a:solidFill>
              </a:rPr>
              <a:t>Kotlin</a:t>
            </a:r>
            <a:r>
              <a:rPr lang="ru-RU" sz="2000" dirty="0">
                <a:solidFill>
                  <a:srgbClr val="7030A0"/>
                </a:solidFill>
              </a:rPr>
              <a:t> + </a:t>
            </a:r>
            <a:r>
              <a:rPr lang="ru-RU" sz="2000" dirty="0" err="1">
                <a:solidFill>
                  <a:srgbClr val="7030A0"/>
                </a:solidFill>
              </a:rPr>
              <a:t>Jetpack</a:t>
            </a:r>
            <a:r>
              <a:rPr lang="ru-RU" sz="2000" dirty="0">
                <a:solidFill>
                  <a:srgbClr val="7030A0"/>
                </a:solidFill>
              </a:rPr>
              <a:t> </a:t>
            </a:r>
            <a:r>
              <a:rPr lang="ru-RU" sz="2000" dirty="0" err="1">
                <a:solidFill>
                  <a:srgbClr val="7030A0"/>
                </a:solidFill>
              </a:rPr>
              <a:t>Compose</a:t>
            </a:r>
            <a:r>
              <a:rPr lang="ru-RU" sz="2000" dirty="0">
                <a:solidFill>
                  <a:srgbClr val="7030A0"/>
                </a:solidFill>
              </a:rPr>
              <a:t>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Хранение данных:</a:t>
            </a:r>
            <a:r>
              <a:rPr lang="ru-RU" sz="2000" dirty="0">
                <a:solidFill>
                  <a:srgbClr val="7030A0"/>
                </a:solidFill>
              </a:rPr>
              <a:t> </a:t>
            </a:r>
            <a:r>
              <a:rPr lang="ru-RU" sz="2000" dirty="0" err="1">
                <a:solidFill>
                  <a:srgbClr val="7030A0"/>
                </a:solidFill>
              </a:rPr>
              <a:t>Room</a:t>
            </a:r>
            <a:r>
              <a:rPr lang="ru-RU" sz="2000" dirty="0">
                <a:solidFill>
                  <a:srgbClr val="7030A0"/>
                </a:solidFill>
              </a:rPr>
              <a:t> (локальная БД) для полностью офлайн-работы.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Архитектура:</a:t>
            </a:r>
            <a:r>
              <a:rPr lang="ru-RU" sz="2000" dirty="0">
                <a:solidFill>
                  <a:srgbClr val="7030A0"/>
                </a:solidFill>
              </a:rPr>
              <a:t> Строгое разделение слоя данных, бизнес-логики и UI. Учебный контент вынесен в отдельный JSON-</a:t>
            </a:r>
            <a:r>
              <a:rPr lang="ru-RU" sz="2000" dirty="0" err="1">
                <a:solidFill>
                  <a:srgbClr val="7030A0"/>
                </a:solidFill>
              </a:rPr>
              <a:t>конфиг</a:t>
            </a:r>
            <a:r>
              <a:rPr lang="ru-RU" sz="2000" dirty="0">
                <a:solidFill>
                  <a:srgbClr val="7030A0"/>
                </a:solidFill>
              </a:rPr>
              <a:t>, что позволяет добавлять новые задания без переработки кода.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Безопасность:</a:t>
            </a:r>
            <a:r>
              <a:rPr lang="ru-RU" sz="2000" dirty="0">
                <a:solidFill>
                  <a:srgbClr val="7030A0"/>
                </a:solidFill>
              </a:rPr>
              <a:t> Работа без сбора персональных данных, без рекламы и внешних ссылок.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337758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72707283" name="Объект 2"/>
          <p:cNvSpPr>
            <a:spLocks noGrp="1"/>
          </p:cNvSpPr>
          <p:nvPr>
            <p:ph idx="1"/>
          </p:nvPr>
        </p:nvSpPr>
        <p:spPr bwMode="auto">
          <a:xfrm>
            <a:off x="623888" y="1556279"/>
            <a:ext cx="10789619" cy="4622848"/>
          </a:xfrm>
        </p:spPr>
        <p:txBody>
          <a:bodyPr>
            <a:no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800" b="1" dirty="0">
                <a:solidFill>
                  <a:srgbClr val="7030A0"/>
                </a:solidFill>
                <a:latin typeface="system-ui"/>
              </a:rPr>
              <a:t>Текущий этап: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 Интерактивный кликабельный прототип в </a:t>
            </a:r>
            <a:r>
              <a:rPr lang="ru-RU" altLang="ru-RU" sz="1800" dirty="0" err="1">
                <a:solidFill>
                  <a:srgbClr val="7030A0"/>
                </a:solidFill>
                <a:latin typeface="system-ui"/>
              </a:rPr>
              <a:t>Figma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 </a:t>
            </a:r>
            <a:r>
              <a:rPr lang="ru-RU" altLang="ru-RU" sz="1800" dirty="0" err="1">
                <a:solidFill>
                  <a:srgbClr val="7030A0"/>
                </a:solidFill>
                <a:latin typeface="system-ui"/>
              </a:rPr>
              <a:t>Make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 — 5 ключевых экранов, полный пользовательский сценарий.</a:t>
            </a:r>
            <a:endParaRPr lang="ru-RU" altLang="ru-RU" sz="1800" dirty="0">
              <a:solidFill>
                <a:srgbClr val="7030A0"/>
              </a:solidFill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800" b="1" dirty="0">
                <a:solidFill>
                  <a:srgbClr val="7030A0"/>
                </a:solidFill>
                <a:latin typeface="system-ui"/>
              </a:rPr>
              <a:t>Планируемый стек (финальная APK-сборка):</a:t>
            </a:r>
            <a:endParaRPr lang="ru-RU" altLang="ru-RU" sz="1800" dirty="0">
              <a:solidFill>
                <a:srgbClr val="7030A0"/>
              </a:solidFill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b="1" dirty="0" err="1">
                <a:solidFill>
                  <a:srgbClr val="7030A0"/>
                </a:solidFill>
                <a:latin typeface="system-ui"/>
              </a:rPr>
              <a:t>Kotlin</a:t>
            </a:r>
            <a:r>
              <a:rPr lang="ru-RU" altLang="ru-RU" sz="1800" b="1" dirty="0">
                <a:solidFill>
                  <a:srgbClr val="7030A0"/>
                </a:solidFill>
                <a:latin typeface="system-ui"/>
              </a:rPr>
              <a:t> + </a:t>
            </a:r>
            <a:r>
              <a:rPr lang="ru-RU" altLang="ru-RU" sz="1800" b="1" dirty="0" err="1">
                <a:solidFill>
                  <a:srgbClr val="7030A0"/>
                </a:solidFill>
                <a:latin typeface="system-ui"/>
              </a:rPr>
              <a:t>Jetpack</a:t>
            </a:r>
            <a:r>
              <a:rPr lang="ru-RU" altLang="ru-RU" sz="1800" b="1" dirty="0">
                <a:solidFill>
                  <a:srgbClr val="7030A0"/>
                </a:solidFill>
                <a:latin typeface="system-ui"/>
              </a:rPr>
              <a:t> </a:t>
            </a:r>
            <a:r>
              <a:rPr lang="ru-RU" altLang="ru-RU" sz="1800" b="1" dirty="0" err="1">
                <a:solidFill>
                  <a:srgbClr val="7030A0"/>
                </a:solidFill>
                <a:latin typeface="system-ui"/>
              </a:rPr>
              <a:t>Compose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 — </a:t>
            </a:r>
            <a:r>
              <a:rPr lang="ru-RU" altLang="ru-RU" sz="1800" dirty="0" err="1">
                <a:solidFill>
                  <a:srgbClr val="7030A0"/>
                </a:solidFill>
                <a:latin typeface="system-ui"/>
              </a:rPr>
              <a:t>нативная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 </a:t>
            </a:r>
            <a:r>
              <a:rPr lang="ru-RU" altLang="ru-RU" sz="1800" dirty="0" err="1">
                <a:solidFill>
                  <a:srgbClr val="7030A0"/>
                </a:solidFill>
                <a:latin typeface="system-ui"/>
              </a:rPr>
              <a:t>Android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-разработка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b="1" dirty="0" err="1">
                <a:solidFill>
                  <a:srgbClr val="7030A0"/>
                </a:solidFill>
                <a:latin typeface="system-ui"/>
              </a:rPr>
              <a:t>Room</a:t>
            </a:r>
            <a:r>
              <a:rPr lang="ru-RU" altLang="ru-RU" sz="1800" b="1" dirty="0">
                <a:solidFill>
                  <a:srgbClr val="7030A0"/>
                </a:solidFill>
                <a:latin typeface="system-ui"/>
              </a:rPr>
              <a:t> (</a:t>
            </a:r>
            <a:r>
              <a:rPr lang="ru-RU" altLang="ru-RU" sz="1800" b="1" dirty="0" err="1">
                <a:solidFill>
                  <a:srgbClr val="7030A0"/>
                </a:solidFill>
                <a:latin typeface="system-ui"/>
              </a:rPr>
              <a:t>SQLite</a:t>
            </a:r>
            <a:r>
              <a:rPr lang="ru-RU" altLang="ru-RU" sz="1800" b="1" dirty="0">
                <a:solidFill>
                  <a:srgbClr val="7030A0"/>
                </a:solidFill>
                <a:latin typeface="system-ui"/>
              </a:rPr>
              <a:t>)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 — локальная база данных для офлайн-работы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b="1" dirty="0">
                <a:solidFill>
                  <a:srgbClr val="7030A0"/>
                </a:solidFill>
                <a:latin typeface="system-ui"/>
              </a:rPr>
              <a:t>Архитектура MVVM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 — разделение слоёв данных, логики и интерфейса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800" b="1" dirty="0">
                <a:solidFill>
                  <a:srgbClr val="7030A0"/>
                </a:solidFill>
                <a:latin typeface="system-ui"/>
              </a:rPr>
              <a:t>Архитектура приложения:</a:t>
            </a:r>
            <a:endParaRPr lang="ru-RU" altLang="ru-RU" sz="1800" dirty="0">
              <a:solidFill>
                <a:srgbClr val="7030A0"/>
              </a:solidFill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dirty="0" err="1">
                <a:solidFill>
                  <a:srgbClr val="7030A0"/>
                </a:solidFill>
                <a:latin typeface="ui-monospace"/>
              </a:rPr>
              <a:t>data</a:t>
            </a:r>
            <a:r>
              <a:rPr lang="ru-RU" altLang="ru-RU" sz="1800" dirty="0">
                <a:solidFill>
                  <a:srgbClr val="7030A0"/>
                </a:solidFill>
                <a:latin typeface="ui-monospace"/>
              </a:rPr>
              <a:t>/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 — слой данных (</a:t>
            </a:r>
            <a:r>
              <a:rPr lang="ru-RU" altLang="ru-RU" sz="1800" dirty="0" err="1">
                <a:solidFill>
                  <a:srgbClr val="7030A0"/>
                </a:solidFill>
                <a:latin typeface="system-ui"/>
              </a:rPr>
              <a:t>Room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 </a:t>
            </a:r>
            <a:r>
              <a:rPr lang="ru-RU" altLang="ru-RU" sz="1800" dirty="0" err="1">
                <a:solidFill>
                  <a:srgbClr val="7030A0"/>
                </a:solidFill>
                <a:latin typeface="system-ui"/>
              </a:rPr>
              <a:t>entities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, DAO, </a:t>
            </a:r>
            <a:r>
              <a:rPr lang="ru-RU" altLang="ru-RU" sz="1800" dirty="0" err="1">
                <a:solidFill>
                  <a:srgbClr val="7030A0"/>
                </a:solidFill>
                <a:latin typeface="system-ui"/>
              </a:rPr>
              <a:t>database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)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dirty="0" err="1">
                <a:solidFill>
                  <a:srgbClr val="7030A0"/>
                </a:solidFill>
                <a:latin typeface="ui-monospace"/>
              </a:rPr>
              <a:t>ui</a:t>
            </a:r>
            <a:r>
              <a:rPr lang="ru-RU" altLang="ru-RU" sz="1800" dirty="0">
                <a:solidFill>
                  <a:srgbClr val="7030A0"/>
                </a:solidFill>
                <a:latin typeface="ui-monospace"/>
              </a:rPr>
              <a:t>/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 — интерфейс (</a:t>
            </a:r>
            <a:r>
              <a:rPr lang="ru-RU" altLang="ru-RU" sz="1800" dirty="0" err="1">
                <a:solidFill>
                  <a:srgbClr val="7030A0"/>
                </a:solidFill>
                <a:latin typeface="system-ui"/>
              </a:rPr>
              <a:t>Compose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 </a:t>
            </a:r>
            <a:r>
              <a:rPr lang="ru-RU" altLang="ru-RU" sz="1800" dirty="0" err="1">
                <a:solidFill>
                  <a:srgbClr val="7030A0"/>
                </a:solidFill>
                <a:latin typeface="system-ui"/>
              </a:rPr>
              <a:t>screens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, </a:t>
            </a:r>
            <a:r>
              <a:rPr lang="ru-RU" altLang="ru-RU" sz="1800" dirty="0" err="1">
                <a:solidFill>
                  <a:srgbClr val="7030A0"/>
                </a:solidFill>
                <a:latin typeface="system-ui"/>
              </a:rPr>
              <a:t>ViewModels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)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dirty="0" err="1">
                <a:solidFill>
                  <a:srgbClr val="7030A0"/>
                </a:solidFill>
                <a:latin typeface="ui-monospace"/>
              </a:rPr>
              <a:t>ui</a:t>
            </a:r>
            <a:r>
              <a:rPr lang="ru-RU" altLang="ru-RU" sz="1800" dirty="0">
                <a:solidFill>
                  <a:srgbClr val="7030A0"/>
                </a:solidFill>
                <a:latin typeface="ui-monospace"/>
              </a:rPr>
              <a:t>/</a:t>
            </a:r>
            <a:r>
              <a:rPr lang="ru-RU" altLang="ru-RU" sz="1800" dirty="0" err="1">
                <a:solidFill>
                  <a:srgbClr val="7030A0"/>
                </a:solidFill>
                <a:latin typeface="ui-monospace"/>
              </a:rPr>
              <a:t>navigation</a:t>
            </a:r>
            <a:r>
              <a:rPr lang="ru-RU" altLang="ru-RU" sz="1800" dirty="0">
                <a:solidFill>
                  <a:srgbClr val="7030A0"/>
                </a:solidFill>
                <a:latin typeface="ui-monospace"/>
              </a:rPr>
              <a:t>/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 — навигация между экранами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dirty="0" err="1">
                <a:solidFill>
                  <a:srgbClr val="7030A0"/>
                </a:solidFill>
                <a:latin typeface="ui-monospace"/>
              </a:rPr>
              <a:t>content</a:t>
            </a:r>
            <a:r>
              <a:rPr lang="ru-RU" altLang="ru-RU" sz="1800" dirty="0">
                <a:solidFill>
                  <a:srgbClr val="7030A0"/>
                </a:solidFill>
                <a:latin typeface="ui-monospace"/>
              </a:rPr>
              <a:t>/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 — учебный контент в отдельном </a:t>
            </a:r>
            <a:r>
              <a:rPr lang="ru-RU" altLang="ru-RU" sz="1800" dirty="0" err="1">
                <a:solidFill>
                  <a:srgbClr val="7030A0"/>
                </a:solidFill>
                <a:latin typeface="system-ui"/>
              </a:rPr>
              <a:t>конфиг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-файле (JSON)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800" b="1" dirty="0">
                <a:solidFill>
                  <a:srgbClr val="7030A0"/>
                </a:solidFill>
                <a:latin typeface="system-ui"/>
              </a:rPr>
              <a:t>Ключевые принципы:</a:t>
            </a:r>
            <a:endParaRPr lang="ru-RU" altLang="ru-RU" sz="1800" dirty="0">
              <a:solidFill>
                <a:srgbClr val="7030A0"/>
              </a:solidFill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Офлайн-работа без сервера и ИИ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Локальный игровой профиль без сбора персональных данных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Учебный контент отделён от кода — новые задания добавляются без переработки основной логики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Соответствие требованиям </a:t>
            </a:r>
            <a:r>
              <a:rPr lang="ru-RU" altLang="ru-RU" sz="1800" dirty="0" err="1">
                <a:solidFill>
                  <a:srgbClr val="7030A0"/>
                </a:solidFill>
                <a:latin typeface="system-ui"/>
              </a:rPr>
              <a:t>Android</a:t>
            </a:r>
            <a:r>
              <a:rPr lang="ru-RU" altLang="ru-RU" sz="1800" dirty="0">
                <a:solidFill>
                  <a:srgbClr val="7030A0"/>
                </a:solidFill>
                <a:latin typeface="system-ui"/>
              </a:rPr>
              <a:t> 8.0+ и </a:t>
            </a:r>
            <a:r>
              <a:rPr lang="ru-RU" altLang="ru-RU" sz="1800" dirty="0" err="1">
                <a:solidFill>
                  <a:srgbClr val="7030A0"/>
                </a:solidFill>
                <a:latin typeface="system-ui"/>
              </a:rPr>
              <a:t>RuStore</a:t>
            </a:r>
            <a:endParaRPr lang="ru-RU" altLang="ru-RU" sz="1800" dirty="0">
              <a:solidFill>
                <a:srgbClr val="7030A0"/>
              </a:solidFill>
            </a:endParaRPr>
          </a:p>
          <a:p>
            <a:pPr>
              <a:defRPr/>
            </a:pPr>
            <a:endParaRPr lang="ru-RU" sz="2500" dirty="0">
              <a:solidFill>
                <a:srgbClr val="7030A0"/>
              </a:solidFill>
            </a:endParaRPr>
          </a:p>
        </p:txBody>
      </p:sp>
      <p:sp>
        <p:nvSpPr>
          <p:cNvPr id="153326399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61437732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pPr>
              <a:defRPr/>
            </a:pPr>
            <a:r>
              <a:rPr lang="ru-RU" sz="3000" dirty="0"/>
              <a:t>Стек и архитектура:</a:t>
            </a:r>
            <a:r>
              <a:rPr lang="ru-RU" sz="3000" dirty="0" smtClean="0">
                <a:solidFill>
                  <a:schemeClr val="bg1"/>
                </a:solidFill>
              </a:rPr>
              <a:t>:</a:t>
            </a:r>
            <a:endParaRPr lang="ru-RU" sz="3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337758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72707283" name="Объект 2"/>
          <p:cNvSpPr>
            <a:spLocks noGrp="1"/>
          </p:cNvSpPr>
          <p:nvPr>
            <p:ph idx="1"/>
          </p:nvPr>
        </p:nvSpPr>
        <p:spPr bwMode="auto">
          <a:xfrm>
            <a:off x="623888" y="1556279"/>
            <a:ext cx="10789619" cy="4622848"/>
          </a:xfrm>
        </p:spPr>
        <p:txBody>
          <a:bodyPr>
            <a:noAutofit/>
          </a:bodyPr>
          <a:lstStyle/>
          <a:p>
            <a:r>
              <a:rPr lang="ru-RU" sz="2000" b="1" dirty="0" smtClean="0">
                <a:solidFill>
                  <a:srgbClr val="7030A0"/>
                </a:solidFill>
              </a:rPr>
              <a:t>B2G</a:t>
            </a:r>
            <a:r>
              <a:rPr lang="ru-RU" sz="2000" b="1" dirty="0">
                <a:solidFill>
                  <a:srgbClr val="7030A0"/>
                </a:solidFill>
              </a:rPr>
              <a:t>:</a:t>
            </a:r>
            <a:r>
              <a:rPr lang="ru-RU" sz="2000" dirty="0">
                <a:solidFill>
                  <a:srgbClr val="7030A0"/>
                </a:solidFill>
              </a:rPr>
              <a:t> интеграция в программу финансовой грамотности школ Москвы через Департамент образования и Департамент финансов города Москвы; участие в федеральных проектах («Урок цифры», «Билет в будущее»).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B2B:</a:t>
            </a:r>
            <a:r>
              <a:rPr lang="ru-RU" sz="2000" dirty="0">
                <a:solidFill>
                  <a:srgbClr val="7030A0"/>
                </a:solidFill>
              </a:rPr>
              <a:t> лицензирование персонажей Тоби и Ананас Татьяны для детских банковских продуктов (Тинькофф </a:t>
            </a:r>
            <a:r>
              <a:rPr lang="ru-RU" sz="2000" dirty="0" err="1">
                <a:solidFill>
                  <a:srgbClr val="7030A0"/>
                </a:solidFill>
              </a:rPr>
              <a:t>Junior</a:t>
            </a:r>
            <a:r>
              <a:rPr lang="ru-RU" sz="2000" dirty="0">
                <a:solidFill>
                  <a:srgbClr val="7030A0"/>
                </a:solidFill>
              </a:rPr>
              <a:t>, </a:t>
            </a:r>
            <a:r>
              <a:rPr lang="ru-RU" sz="2000" dirty="0" err="1">
                <a:solidFill>
                  <a:srgbClr val="7030A0"/>
                </a:solidFill>
              </a:rPr>
              <a:t>СберKids</a:t>
            </a:r>
            <a:r>
              <a:rPr lang="ru-RU" sz="2000" dirty="0">
                <a:solidFill>
                  <a:srgbClr val="7030A0"/>
                </a:solidFill>
              </a:rPr>
              <a:t>); </a:t>
            </a:r>
            <a:r>
              <a:rPr lang="ru-RU" sz="2000" dirty="0" err="1">
                <a:solidFill>
                  <a:srgbClr val="7030A0"/>
                </a:solidFill>
              </a:rPr>
              <a:t>коллаборации</a:t>
            </a:r>
            <a:r>
              <a:rPr lang="ru-RU" sz="2000" dirty="0">
                <a:solidFill>
                  <a:srgbClr val="7030A0"/>
                </a:solidFill>
              </a:rPr>
              <a:t> с издательствами детской литературы (</a:t>
            </a:r>
            <a:r>
              <a:rPr lang="ru-RU" sz="2000" dirty="0" err="1">
                <a:solidFill>
                  <a:srgbClr val="7030A0"/>
                </a:solidFill>
              </a:rPr>
              <a:t>Росмэн</a:t>
            </a:r>
            <a:r>
              <a:rPr lang="ru-RU" sz="2000" dirty="0">
                <a:solidFill>
                  <a:srgbClr val="7030A0"/>
                </a:solidFill>
              </a:rPr>
              <a:t>, АСТ, Самокат) для выпуска серии книг-продолжений; партнёрство с образовательными платформами (</a:t>
            </a:r>
            <a:r>
              <a:rPr lang="ru-RU" sz="2000" dirty="0" err="1">
                <a:solidFill>
                  <a:srgbClr val="7030A0"/>
                </a:solidFill>
              </a:rPr>
              <a:t>Учи.ру</a:t>
            </a:r>
            <a:r>
              <a:rPr lang="ru-RU" sz="2000" dirty="0">
                <a:solidFill>
                  <a:srgbClr val="7030A0"/>
                </a:solidFill>
              </a:rPr>
              <a:t>, </a:t>
            </a:r>
            <a:r>
              <a:rPr lang="ru-RU" sz="2000" dirty="0" err="1">
                <a:solidFill>
                  <a:srgbClr val="7030A0"/>
                </a:solidFill>
              </a:rPr>
              <a:t>Яндекс.Учебник</a:t>
            </a:r>
            <a:r>
              <a:rPr lang="ru-RU" sz="2000" dirty="0">
                <a:solidFill>
                  <a:srgbClr val="7030A0"/>
                </a:solidFill>
              </a:rPr>
              <a:t>).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B2C:</a:t>
            </a:r>
            <a:r>
              <a:rPr lang="ru-RU" sz="2000" dirty="0">
                <a:solidFill>
                  <a:srgbClr val="7030A0"/>
                </a:solidFill>
              </a:rPr>
              <a:t> публикация приложения в </a:t>
            </a:r>
            <a:r>
              <a:rPr lang="ru-RU" sz="2000" dirty="0" err="1">
                <a:solidFill>
                  <a:srgbClr val="7030A0"/>
                </a:solidFill>
              </a:rPr>
              <a:t>RuStore</a:t>
            </a:r>
            <a:r>
              <a:rPr lang="ru-RU" sz="2000" dirty="0">
                <a:solidFill>
                  <a:srgbClr val="7030A0"/>
                </a:solidFill>
              </a:rPr>
              <a:t> и VK </a:t>
            </a:r>
            <a:r>
              <a:rPr lang="ru-RU" sz="2000" dirty="0" err="1">
                <a:solidFill>
                  <a:srgbClr val="7030A0"/>
                </a:solidFill>
              </a:rPr>
              <a:t>Store</a:t>
            </a:r>
            <a:r>
              <a:rPr lang="ru-RU" sz="2000" dirty="0">
                <a:solidFill>
                  <a:srgbClr val="7030A0"/>
                </a:solidFill>
              </a:rPr>
              <a:t> с бесплатным базовым функционалом; продвижение через родительские сообщества и педагогических </a:t>
            </a:r>
            <a:r>
              <a:rPr lang="ru-RU" sz="2000" dirty="0" err="1">
                <a:solidFill>
                  <a:srgbClr val="7030A0"/>
                </a:solidFill>
              </a:rPr>
              <a:t>блогеров</a:t>
            </a:r>
            <a:r>
              <a:rPr lang="ru-RU" sz="2000" dirty="0">
                <a:solidFill>
                  <a:srgbClr val="7030A0"/>
                </a:solidFill>
              </a:rPr>
              <a:t>; выпуск </a:t>
            </a:r>
            <a:r>
              <a:rPr lang="ru-RU" sz="2000" dirty="0" err="1">
                <a:solidFill>
                  <a:srgbClr val="7030A0"/>
                </a:solidFill>
              </a:rPr>
              <a:t>мерча</a:t>
            </a:r>
            <a:r>
              <a:rPr lang="ru-RU" sz="2000" dirty="0">
                <a:solidFill>
                  <a:srgbClr val="7030A0"/>
                </a:solidFill>
              </a:rPr>
              <a:t> (</a:t>
            </a:r>
            <a:r>
              <a:rPr lang="ru-RU" sz="2000" dirty="0" err="1">
                <a:solidFill>
                  <a:srgbClr val="7030A0"/>
                </a:solidFill>
              </a:rPr>
              <a:t>стикеры</a:t>
            </a:r>
            <a:r>
              <a:rPr lang="ru-RU" sz="2000" dirty="0">
                <a:solidFill>
                  <a:srgbClr val="7030A0"/>
                </a:solidFill>
              </a:rPr>
              <a:t>, канцелярия) с авторскими иллюстрациями.</a:t>
            </a:r>
          </a:p>
          <a:p>
            <a:r>
              <a:rPr lang="ru-RU" sz="2000" b="1" dirty="0">
                <a:solidFill>
                  <a:srgbClr val="7030A0"/>
                </a:solidFill>
              </a:rPr>
              <a:t>Монетизация:</a:t>
            </a:r>
            <a:r>
              <a:rPr lang="ru-RU" sz="2000" dirty="0">
                <a:solidFill>
                  <a:srgbClr val="7030A0"/>
                </a:solidFill>
              </a:rPr>
              <a:t> freemium-модель (бесплатный базовый функционал + премиум-подписка 99–199 ₽/</a:t>
            </a:r>
            <a:r>
              <a:rPr lang="ru-RU" sz="2000" dirty="0" err="1">
                <a:solidFill>
                  <a:srgbClr val="7030A0"/>
                </a:solidFill>
              </a:rPr>
              <a:t>мес</a:t>
            </a:r>
            <a:r>
              <a:rPr lang="ru-RU" sz="2000" dirty="0">
                <a:solidFill>
                  <a:srgbClr val="7030A0"/>
                </a:solidFill>
              </a:rPr>
              <a:t>: расширенные задания, дополнительные питомцы, родительская аналитика); продажа книг через онлайн-площадки (</a:t>
            </a:r>
            <a:r>
              <a:rPr lang="ru-RU" sz="2000" dirty="0" err="1">
                <a:solidFill>
                  <a:srgbClr val="7030A0"/>
                </a:solidFill>
              </a:rPr>
              <a:t>Литрес</a:t>
            </a:r>
            <a:r>
              <a:rPr lang="ru-RU" sz="2000" dirty="0">
                <a:solidFill>
                  <a:srgbClr val="7030A0"/>
                </a:solidFill>
              </a:rPr>
              <a:t>, </a:t>
            </a:r>
            <a:r>
              <a:rPr lang="ru-RU" sz="2000" dirty="0" err="1">
                <a:solidFill>
                  <a:srgbClr val="7030A0"/>
                </a:solidFill>
              </a:rPr>
              <a:t>Ridero</a:t>
            </a:r>
            <a:r>
              <a:rPr lang="ru-RU" sz="2000" dirty="0">
                <a:solidFill>
                  <a:srgbClr val="7030A0"/>
                </a:solidFill>
              </a:rPr>
              <a:t>, </a:t>
            </a:r>
            <a:r>
              <a:rPr lang="ru-RU" sz="2000" dirty="0" err="1">
                <a:solidFill>
                  <a:srgbClr val="7030A0"/>
                </a:solidFill>
              </a:rPr>
              <a:t>Ozon</a:t>
            </a:r>
            <a:r>
              <a:rPr lang="ru-RU" sz="2000" dirty="0">
                <a:solidFill>
                  <a:srgbClr val="7030A0"/>
                </a:solidFill>
              </a:rPr>
              <a:t>); </a:t>
            </a:r>
            <a:r>
              <a:rPr lang="ru-RU" sz="2000" dirty="0" err="1">
                <a:solidFill>
                  <a:srgbClr val="7030A0"/>
                </a:solidFill>
              </a:rPr>
              <a:t>грантовая</a:t>
            </a:r>
            <a:r>
              <a:rPr lang="ru-RU" sz="2000" dirty="0">
                <a:solidFill>
                  <a:srgbClr val="7030A0"/>
                </a:solidFill>
              </a:rPr>
              <a:t> поддержка от профильных фондов (Фонд президентских грантов, Фонд культурных инициатив).</a:t>
            </a:r>
          </a:p>
          <a:p>
            <a:pPr>
              <a:defRPr/>
            </a:pPr>
            <a:endParaRPr lang="ru-RU" sz="2500" dirty="0">
              <a:solidFill>
                <a:srgbClr val="7030A0"/>
              </a:solidFill>
            </a:endParaRPr>
          </a:p>
        </p:txBody>
      </p:sp>
      <p:sp>
        <p:nvSpPr>
          <p:cNvPr id="153326399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10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61437732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pPr>
              <a:defRPr/>
            </a:pPr>
            <a:r>
              <a:rPr lang="ru-RU" sz="3600" dirty="0">
                <a:solidFill>
                  <a:schemeClr val="bg1"/>
                </a:solidFill>
              </a:rPr>
              <a:t>Каналы внедрения</a:t>
            </a:r>
            <a:r>
              <a:rPr lang="ru-RU" sz="3600" dirty="0" smtClean="0">
                <a:solidFill>
                  <a:schemeClr val="bg1"/>
                </a:solidFill>
              </a:rPr>
              <a:t>: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717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383300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43557547" name="Объект 28"/>
          <p:cNvSpPr>
            <a:spLocks noGrp="1"/>
          </p:cNvSpPr>
          <p:nvPr>
            <p:ph idx="1"/>
          </p:nvPr>
        </p:nvSpPr>
        <p:spPr bwMode="auto">
          <a:xfrm>
            <a:off x="521133" y="1263123"/>
            <a:ext cx="5574868" cy="4937652"/>
          </a:xfrm>
        </p:spPr>
        <p:txBody>
          <a:bodyPr>
            <a:noAutofit/>
          </a:bodyPr>
          <a:lstStyle/>
          <a:p>
            <a:r>
              <a:rPr lang="ru-RU" sz="1800" dirty="0">
                <a:solidFill>
                  <a:srgbClr val="7030A0"/>
                </a:solidFill>
              </a:rPr>
              <a:t>Мы создаем не просто приложение, а </a:t>
            </a:r>
            <a:r>
              <a:rPr lang="ru-RU" sz="1800" b="1" dirty="0">
                <a:solidFill>
                  <a:srgbClr val="7030A0"/>
                </a:solidFill>
              </a:rPr>
              <a:t>инструмент формирования финансового иммунитета нации</a:t>
            </a:r>
            <a:r>
              <a:rPr lang="ru-RU" sz="1800" dirty="0">
                <a:solidFill>
                  <a:srgbClr val="7030A0"/>
                </a:solidFill>
              </a:rPr>
              <a:t>.</a:t>
            </a:r>
          </a:p>
          <a:p>
            <a:r>
              <a:rPr lang="ru-RU" sz="1800" b="1" dirty="0">
                <a:solidFill>
                  <a:srgbClr val="7030A0"/>
                </a:solidFill>
              </a:rPr>
              <a:t>Инвестиции в человеческий капитал:</a:t>
            </a:r>
            <a:r>
              <a:rPr lang="ru-RU" sz="1800" dirty="0">
                <a:solidFill>
                  <a:srgbClr val="7030A0"/>
                </a:solidFill>
              </a:rPr>
              <a:t> Дети, научившиеся отличать «хочу» от «надо» и планировать бюджет в 10 лет, через 15 лет не будут брать необдуманные </a:t>
            </a:r>
            <a:r>
              <a:rPr lang="ru-RU" sz="1800" dirty="0" err="1">
                <a:solidFill>
                  <a:srgbClr val="7030A0"/>
                </a:solidFill>
              </a:rPr>
              <a:t>микрозаймы</a:t>
            </a:r>
            <a:r>
              <a:rPr lang="ru-RU" sz="1800" dirty="0">
                <a:solidFill>
                  <a:srgbClr val="7030A0"/>
                </a:solidFill>
              </a:rPr>
              <a:t> и попадать в долговые ямы.</a:t>
            </a:r>
          </a:p>
          <a:p>
            <a:r>
              <a:rPr lang="ru-RU" sz="1800" b="1" dirty="0">
                <a:solidFill>
                  <a:srgbClr val="7030A0"/>
                </a:solidFill>
              </a:rPr>
              <a:t>Снижение социальной напряженности:</a:t>
            </a:r>
            <a:r>
              <a:rPr lang="ru-RU" sz="1800" dirty="0">
                <a:solidFill>
                  <a:srgbClr val="7030A0"/>
                </a:solidFill>
              </a:rPr>
              <a:t> Массовая финансовая грамотность снижает уровень банкротств физических лиц и кредитную нагрузку на семьи в будущем.</a:t>
            </a:r>
          </a:p>
          <a:p>
            <a:r>
              <a:rPr lang="ru-RU" sz="1800" b="1" dirty="0">
                <a:solidFill>
                  <a:srgbClr val="7030A0"/>
                </a:solidFill>
              </a:rPr>
              <a:t>Культура сбережений:</a:t>
            </a:r>
            <a:r>
              <a:rPr lang="ru-RU" sz="1800" dirty="0">
                <a:solidFill>
                  <a:srgbClr val="7030A0"/>
                </a:solidFill>
              </a:rPr>
              <a:t> Воспитание привычки к регулярным накоплениям увеличивает внутреннюю инвестиционную базу страны.</a:t>
            </a:r>
          </a:p>
          <a:p>
            <a:r>
              <a:rPr lang="ru-RU" sz="1800" b="1" dirty="0">
                <a:solidFill>
                  <a:srgbClr val="7030A0"/>
                </a:solidFill>
              </a:rPr>
              <a:t>Безболезненное обучение:</a:t>
            </a:r>
            <a:r>
              <a:rPr lang="ru-RU" sz="1800" dirty="0">
                <a:solidFill>
                  <a:srgbClr val="7030A0"/>
                </a:solidFill>
              </a:rPr>
              <a:t> Игровая механика снимает страх и скуку перед экономикой, превращая её в понятный инструмент управления собственной жизнью.</a:t>
            </a:r>
          </a:p>
          <a:p>
            <a:pPr>
              <a:defRPr/>
            </a:pPr>
            <a:endParaRPr lang="ru-RU" sz="1800" dirty="0">
              <a:solidFill>
                <a:srgbClr val="7030A0"/>
              </a:solidFill>
            </a:endParaRPr>
          </a:p>
        </p:txBody>
      </p:sp>
      <p:sp>
        <p:nvSpPr>
          <p:cNvPr id="74993132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11</a:t>
            </a:fld>
            <a:endParaRPr lang="ru-RU"/>
          </a:p>
        </p:txBody>
      </p:sp>
      <p:sp>
        <p:nvSpPr>
          <p:cNvPr id="104601721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755086"/>
          </a:xfrm>
        </p:spPr>
        <p:txBody>
          <a:bodyPr/>
          <a:lstStyle/>
          <a:p>
            <a:pPr>
              <a:defRPr/>
            </a:pPr>
            <a:r>
              <a:rPr lang="ru-RU" sz="2500" dirty="0">
                <a:solidFill>
                  <a:schemeClr val="accent1"/>
                </a:solidFill>
              </a:rPr>
              <a:t>Макроэкономический </a:t>
            </a:r>
            <a:r>
              <a:rPr lang="ru-RU" sz="2500" dirty="0" smtClean="0">
                <a:solidFill>
                  <a:schemeClr val="accent1"/>
                </a:solidFill>
              </a:rPr>
              <a:t/>
            </a:r>
            <a:br>
              <a:rPr lang="ru-RU" sz="2500" dirty="0" smtClean="0">
                <a:solidFill>
                  <a:schemeClr val="accent1"/>
                </a:solidFill>
              </a:rPr>
            </a:br>
            <a:r>
              <a:rPr lang="ru-RU" sz="2500" dirty="0" smtClean="0">
                <a:solidFill>
                  <a:schemeClr val="accent1"/>
                </a:solidFill>
              </a:rPr>
              <a:t>и </a:t>
            </a:r>
            <a:r>
              <a:rPr lang="ru-RU" sz="2500" dirty="0">
                <a:solidFill>
                  <a:schemeClr val="accent1"/>
                </a:solidFill>
              </a:rPr>
              <a:t>социальный эффект:</a:t>
            </a:r>
            <a:endParaRPr lang="ru-RU" sz="25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337758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72707283" name="Объект 2"/>
          <p:cNvSpPr>
            <a:spLocks noGrp="1"/>
          </p:cNvSpPr>
          <p:nvPr>
            <p:ph idx="1"/>
          </p:nvPr>
        </p:nvSpPr>
        <p:spPr bwMode="auto">
          <a:xfrm>
            <a:off x="623888" y="1556279"/>
            <a:ext cx="10789619" cy="4622848"/>
          </a:xfrm>
        </p:spPr>
        <p:txBody>
          <a:bodyPr>
            <a:noAutofit/>
          </a:bodyPr>
          <a:lstStyle/>
          <a:p>
            <a:r>
              <a:rPr lang="ru-RU" sz="2500" b="1" dirty="0">
                <a:solidFill>
                  <a:srgbClr val="7030A0"/>
                </a:solidFill>
              </a:rPr>
              <a:t>Старт:</a:t>
            </a:r>
            <a:r>
              <a:rPr lang="ru-RU" sz="2500" dirty="0">
                <a:solidFill>
                  <a:srgbClr val="7030A0"/>
                </a:solidFill>
              </a:rPr>
              <a:t> Ребенок создает питомца (9 комбинаций вида и цвета) и получает стартовый бюджет.</a:t>
            </a:r>
          </a:p>
          <a:p>
            <a:r>
              <a:rPr lang="ru-RU" sz="2500" b="1" dirty="0">
                <a:solidFill>
                  <a:srgbClr val="7030A0"/>
                </a:solidFill>
              </a:rPr>
              <a:t>Планирование:</a:t>
            </a:r>
            <a:r>
              <a:rPr lang="ru-RU" sz="2500" dirty="0">
                <a:solidFill>
                  <a:srgbClr val="7030A0"/>
                </a:solidFill>
              </a:rPr>
              <a:t> Распределяет монеты по 3 направлениям: обязательное, желаемое, накопления.</a:t>
            </a:r>
          </a:p>
          <a:p>
            <a:r>
              <a:rPr lang="ru-RU" sz="2500" b="1" dirty="0">
                <a:solidFill>
                  <a:srgbClr val="7030A0"/>
                </a:solidFill>
              </a:rPr>
              <a:t>Действие:</a:t>
            </a:r>
            <a:r>
              <a:rPr lang="ru-RU" sz="2500" dirty="0">
                <a:solidFill>
                  <a:srgbClr val="7030A0"/>
                </a:solidFill>
              </a:rPr>
              <a:t> Выполняет задания, совершает покупки (видит последствия для питомца).</a:t>
            </a:r>
          </a:p>
          <a:p>
            <a:r>
              <a:rPr lang="ru-RU" sz="2500" b="1" dirty="0">
                <a:solidFill>
                  <a:srgbClr val="7030A0"/>
                </a:solidFill>
              </a:rPr>
              <a:t>Цель:</a:t>
            </a:r>
            <a:r>
              <a:rPr lang="ru-RU" sz="2500" dirty="0">
                <a:solidFill>
                  <a:srgbClr val="7030A0"/>
                </a:solidFill>
              </a:rPr>
              <a:t> Копит на мечту (например, «Домик для Тоби») с помощником «Ананас Татьяна».</a:t>
            </a:r>
          </a:p>
          <a:p>
            <a:r>
              <a:rPr lang="ru-RU" sz="2500" b="1" dirty="0">
                <a:solidFill>
                  <a:srgbClr val="7030A0"/>
                </a:solidFill>
              </a:rPr>
              <a:t>Ключевой принцип:</a:t>
            </a:r>
            <a:r>
              <a:rPr lang="ru-RU" sz="2500" dirty="0">
                <a:solidFill>
                  <a:srgbClr val="7030A0"/>
                </a:solidFill>
              </a:rPr>
              <a:t> Ограниченность ресурсов заставляет выбирать. Ошибки не наказываются (питомец не умирает), а становятся уроком — ребенок видит причинно-следственную связь и учится корректировать план.</a:t>
            </a:r>
          </a:p>
          <a:p>
            <a:pPr>
              <a:defRPr/>
            </a:pPr>
            <a:endParaRPr lang="ru-RU" sz="2500" dirty="0">
              <a:solidFill>
                <a:srgbClr val="7030A0"/>
              </a:solidFill>
            </a:endParaRPr>
          </a:p>
        </p:txBody>
      </p:sp>
      <p:sp>
        <p:nvSpPr>
          <p:cNvPr id="153326399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12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61437732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235975"/>
            <a:ext cx="6339644" cy="730136"/>
          </a:xfrm>
        </p:spPr>
        <p:txBody>
          <a:bodyPr/>
          <a:lstStyle/>
          <a:p>
            <a:pPr>
              <a:defRPr/>
            </a:pPr>
            <a:r>
              <a:rPr lang="ru-RU" sz="2500" dirty="0"/>
              <a:t>Пользовательский путь и игровая экономика:</a:t>
            </a:r>
            <a:endParaRPr lang="ru-RU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967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855634" name="Заголовок 5"/>
          <p:cNvSpPr>
            <a:spLocks noGrp="1"/>
          </p:cNvSpPr>
          <p:nvPr>
            <p:ph type="title"/>
          </p:nvPr>
        </p:nvSpPr>
        <p:spPr bwMode="auto">
          <a:xfrm>
            <a:off x="521133" y="953036"/>
            <a:ext cx="5562510" cy="442374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7030A0"/>
                </a:solidFill>
              </a:rPr>
              <a:t>Подробное описание решения (</a:t>
            </a:r>
            <a:r>
              <a:rPr lang="ru-RU" dirty="0" err="1">
                <a:solidFill>
                  <a:srgbClr val="7030A0"/>
                </a:solidFill>
              </a:rPr>
              <a:t>User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Flow</a:t>
            </a:r>
            <a:r>
              <a:rPr lang="ru-RU" dirty="0" smtClean="0">
                <a:solidFill>
                  <a:srgbClr val="7030A0"/>
                </a:solidFill>
              </a:rPr>
              <a:t>)</a:t>
            </a:r>
            <a:endParaRPr lang="ru-RU" sz="2000" dirty="0">
              <a:solidFill>
                <a:srgbClr val="7030A0"/>
              </a:solidFill>
            </a:endParaRPr>
          </a:p>
        </p:txBody>
      </p:sp>
      <p:sp>
        <p:nvSpPr>
          <p:cNvPr id="199384775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86005" y="1720474"/>
            <a:ext cx="4923703" cy="701811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000" b="1" dirty="0">
                <a:solidFill>
                  <a:srgbClr val="7030A0"/>
                </a:solidFill>
              </a:rPr>
              <a:t>Основной цикл:</a:t>
            </a:r>
            <a:r>
              <a:rPr lang="ru-RU" sz="3000" dirty="0">
                <a:solidFill>
                  <a:srgbClr val="7030A0"/>
                </a:solidFill>
              </a:rPr>
              <a:t> </a:t>
            </a:r>
            <a:endParaRPr lang="ru-RU" sz="3000" dirty="0">
              <a:solidFill>
                <a:srgbClr val="7030A0"/>
              </a:solidFill>
            </a:endParaRPr>
          </a:p>
        </p:txBody>
      </p:sp>
      <p:sp>
        <p:nvSpPr>
          <p:cNvPr id="1258197669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10063740" cy="3804315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  <a:defRPr/>
            </a:pPr>
            <a:r>
              <a:rPr lang="ru-RU" sz="3000" dirty="0" smtClean="0">
                <a:solidFill>
                  <a:srgbClr val="7030A0"/>
                </a:solidFill>
              </a:rPr>
              <a:t>Приветствие </a:t>
            </a:r>
            <a:r>
              <a:rPr lang="ru-RU" sz="3000" dirty="0">
                <a:solidFill>
                  <a:srgbClr val="7030A0"/>
                </a:solidFill>
              </a:rPr>
              <a:t>→ </a:t>
            </a:r>
            <a:endParaRPr lang="ru-RU" sz="3000" dirty="0" smtClean="0">
              <a:solidFill>
                <a:srgbClr val="7030A0"/>
              </a:solidFill>
            </a:endParaRPr>
          </a:p>
          <a:p>
            <a:pPr marL="514350" indent="-514350">
              <a:buAutoNum type="arabicPeriod"/>
              <a:defRPr/>
            </a:pPr>
            <a:r>
              <a:rPr lang="ru-RU" sz="3000" dirty="0" smtClean="0">
                <a:solidFill>
                  <a:srgbClr val="7030A0"/>
                </a:solidFill>
              </a:rPr>
              <a:t>Создание </a:t>
            </a:r>
            <a:r>
              <a:rPr lang="ru-RU" sz="3000" dirty="0">
                <a:solidFill>
                  <a:srgbClr val="7030A0"/>
                </a:solidFill>
              </a:rPr>
              <a:t>питомца (9 комбинаций) → </a:t>
            </a:r>
            <a:endParaRPr lang="ru-RU" sz="3000" dirty="0" smtClean="0">
              <a:solidFill>
                <a:srgbClr val="7030A0"/>
              </a:solidFill>
            </a:endParaRPr>
          </a:p>
          <a:p>
            <a:pPr marL="514350" indent="-514350">
              <a:buAutoNum type="arabicPeriod"/>
              <a:defRPr/>
            </a:pPr>
            <a:r>
              <a:rPr lang="ru-RU" sz="3000" dirty="0" smtClean="0">
                <a:solidFill>
                  <a:srgbClr val="7030A0"/>
                </a:solidFill>
              </a:rPr>
              <a:t>Стартовый </a:t>
            </a:r>
            <a:r>
              <a:rPr lang="ru-RU" sz="3000" dirty="0">
                <a:solidFill>
                  <a:srgbClr val="7030A0"/>
                </a:solidFill>
              </a:rPr>
              <a:t>бюджет (100 монет) → </a:t>
            </a:r>
            <a:endParaRPr lang="ru-RU" sz="3000" dirty="0" smtClean="0">
              <a:solidFill>
                <a:srgbClr val="7030A0"/>
              </a:solidFill>
            </a:endParaRPr>
          </a:p>
          <a:p>
            <a:pPr marL="514350" indent="-514350">
              <a:buAutoNum type="arabicPeriod"/>
              <a:defRPr/>
            </a:pPr>
            <a:r>
              <a:rPr lang="ru-RU" sz="3000" dirty="0" smtClean="0">
                <a:solidFill>
                  <a:srgbClr val="7030A0"/>
                </a:solidFill>
              </a:rPr>
              <a:t>Планирование </a:t>
            </a:r>
            <a:r>
              <a:rPr lang="ru-RU" sz="3000" dirty="0">
                <a:solidFill>
                  <a:srgbClr val="7030A0"/>
                </a:solidFill>
              </a:rPr>
              <a:t>бюджета (3 направления) → </a:t>
            </a:r>
            <a:endParaRPr lang="ru-RU" sz="3000" dirty="0" smtClean="0">
              <a:solidFill>
                <a:srgbClr val="7030A0"/>
              </a:solidFill>
            </a:endParaRPr>
          </a:p>
          <a:p>
            <a:pPr marL="514350" indent="-514350">
              <a:buAutoNum type="arabicPeriod"/>
              <a:defRPr/>
            </a:pPr>
            <a:r>
              <a:rPr lang="ru-RU" sz="3000" dirty="0" smtClean="0">
                <a:solidFill>
                  <a:srgbClr val="7030A0"/>
                </a:solidFill>
              </a:rPr>
              <a:t>Выполнение </a:t>
            </a:r>
            <a:r>
              <a:rPr lang="ru-RU" sz="3000" dirty="0">
                <a:solidFill>
                  <a:srgbClr val="7030A0"/>
                </a:solidFill>
              </a:rPr>
              <a:t>задания → </a:t>
            </a:r>
            <a:endParaRPr lang="ru-RU" sz="3000" dirty="0" smtClean="0">
              <a:solidFill>
                <a:srgbClr val="7030A0"/>
              </a:solidFill>
            </a:endParaRPr>
          </a:p>
          <a:p>
            <a:pPr marL="514350" indent="-514350">
              <a:buAutoNum type="arabicPeriod"/>
              <a:defRPr/>
            </a:pPr>
            <a:r>
              <a:rPr lang="ru-RU" sz="3000" dirty="0" smtClean="0">
                <a:solidFill>
                  <a:srgbClr val="7030A0"/>
                </a:solidFill>
              </a:rPr>
              <a:t>Покупки </a:t>
            </a:r>
            <a:r>
              <a:rPr lang="ru-RU" sz="3000" dirty="0">
                <a:solidFill>
                  <a:srgbClr val="7030A0"/>
                </a:solidFill>
              </a:rPr>
              <a:t>→ </a:t>
            </a:r>
            <a:endParaRPr lang="ru-RU" sz="3000" dirty="0" smtClean="0">
              <a:solidFill>
                <a:srgbClr val="7030A0"/>
              </a:solidFill>
            </a:endParaRPr>
          </a:p>
          <a:p>
            <a:pPr marL="514350" indent="-514350">
              <a:buAutoNum type="arabicPeriod"/>
              <a:defRPr/>
            </a:pPr>
            <a:r>
              <a:rPr lang="ru-RU" sz="3000" dirty="0" smtClean="0">
                <a:solidFill>
                  <a:srgbClr val="7030A0"/>
                </a:solidFill>
              </a:rPr>
              <a:t>Пополнение </a:t>
            </a:r>
            <a:r>
              <a:rPr lang="ru-RU" sz="3000" dirty="0">
                <a:solidFill>
                  <a:srgbClr val="7030A0"/>
                </a:solidFill>
              </a:rPr>
              <a:t>накоплений → </a:t>
            </a:r>
            <a:endParaRPr lang="ru-RU" sz="3000" dirty="0" smtClean="0">
              <a:solidFill>
                <a:srgbClr val="7030A0"/>
              </a:solidFill>
            </a:endParaRPr>
          </a:p>
          <a:p>
            <a:pPr marL="514350" indent="-514350">
              <a:buAutoNum type="arabicPeriod"/>
              <a:defRPr/>
            </a:pPr>
            <a:r>
              <a:rPr lang="ru-RU" sz="3000" dirty="0" smtClean="0">
                <a:solidFill>
                  <a:srgbClr val="7030A0"/>
                </a:solidFill>
              </a:rPr>
              <a:t>Обратная </a:t>
            </a:r>
            <a:r>
              <a:rPr lang="ru-RU" sz="3000" dirty="0">
                <a:solidFill>
                  <a:srgbClr val="7030A0"/>
                </a:solidFill>
              </a:rPr>
              <a:t>связь и рост питомца.</a:t>
            </a:r>
            <a:endParaRPr lang="ru-RU" sz="3000" dirty="0">
              <a:solidFill>
                <a:srgbClr val="7030A0"/>
              </a:solidFill>
            </a:endParaRPr>
          </a:p>
        </p:txBody>
      </p:sp>
      <p:sp>
        <p:nvSpPr>
          <p:cNvPr id="1886604255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13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738462245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60603524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44942" name="Скругленный прямоугольник 2"/>
          <p:cNvSpPr/>
          <p:nvPr/>
        </p:nvSpPr>
        <p:spPr bwMode="auto">
          <a:xfrm>
            <a:off x="346075" y="324562"/>
            <a:ext cx="5607406" cy="680371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2" name="Рисунок 1"/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" b="1140"/>
          <a:stretch>
            <a:fillRect/>
          </a:stretch>
        </p:blipFill>
        <p:spPr bwMode="auto">
          <a:prstGeom prst="roundRect">
            <a:avLst>
              <a:gd name="adj" fmla="val 12294"/>
            </a:avLst>
          </a:prstGeom>
        </p:spPr>
      </p:pic>
      <p:sp>
        <p:nvSpPr>
          <p:cNvPr id="1171142321" name="Текст 3"/>
          <p:cNvSpPr>
            <a:spLocks noGrp="1"/>
          </p:cNvSpPr>
          <p:nvPr>
            <p:ph type="body" sz="quarter" idx="21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dirty="0"/>
              <a:t>Дружелюбное знакомство:</a:t>
            </a:r>
            <a:r>
              <a:rPr lang="ru-RU" b="0" dirty="0"/>
              <a:t> 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212049799" name="Текст 4"/>
          <p:cNvSpPr>
            <a:spLocks noGrp="1"/>
          </p:cNvSpPr>
          <p:nvPr>
            <p:ph type="body" sz="quarter" idx="18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2000" dirty="0">
                <a:solidFill>
                  <a:srgbClr val="7030A0"/>
                </a:solidFill>
              </a:rPr>
              <a:t>Персонаж «Тоби» сразу представляется ребёнку и приглашает его в совместное путешествие по миру финансов.</a:t>
            </a:r>
            <a:endParaRPr lang="ru-RU" sz="2000" dirty="0">
              <a:solidFill>
                <a:srgbClr val="7030A0"/>
              </a:solidFill>
            </a:endParaRPr>
          </a:p>
        </p:txBody>
      </p:sp>
      <p:sp>
        <p:nvSpPr>
          <p:cNvPr id="1632877939" name="Текст 5"/>
          <p:cNvSpPr>
            <a:spLocks noGrp="1"/>
          </p:cNvSpPr>
          <p:nvPr>
            <p:ph type="body" sz="quarter" idx="22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accent1"/>
                </a:solidFill>
              </a:rPr>
              <a:t>Возрастная уместность:</a:t>
            </a:r>
            <a:endParaRPr lang="ru-RU" b="0" dirty="0">
              <a:solidFill>
                <a:schemeClr val="accent1"/>
              </a:solidFill>
            </a:endParaRPr>
          </a:p>
        </p:txBody>
      </p:sp>
      <p:sp>
        <p:nvSpPr>
          <p:cNvPr id="567663250" name="Текст 6"/>
          <p:cNvSpPr>
            <a:spLocks noGrp="1"/>
          </p:cNvSpPr>
          <p:nvPr>
            <p:ph type="body" sz="quarter" idx="23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000" dirty="0">
                <a:solidFill>
                  <a:srgbClr val="7030A0"/>
                </a:solidFill>
              </a:rPr>
              <a:t>Минимум текста, крупные элементы, </a:t>
            </a:r>
            <a:r>
              <a:rPr lang="ru-RU" sz="2000" dirty="0" err="1">
                <a:solidFill>
                  <a:srgbClr val="7030A0"/>
                </a:solidFill>
              </a:rPr>
              <a:t>эмодзи</a:t>
            </a:r>
            <a:r>
              <a:rPr lang="ru-RU" sz="2000" dirty="0">
                <a:solidFill>
                  <a:srgbClr val="7030A0"/>
                </a:solidFill>
              </a:rPr>
              <a:t>-иконки — всё соответствует восприятию детей 7–11 лет.</a:t>
            </a:r>
            <a:endParaRPr lang="ru-RU" sz="2000" dirty="0">
              <a:solidFill>
                <a:srgbClr val="7030A0"/>
              </a:solidFill>
            </a:endParaRPr>
          </a:p>
        </p:txBody>
      </p:sp>
      <p:sp>
        <p:nvSpPr>
          <p:cNvPr id="638425924" name="Текст 7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595702"/>
            <a:ext cx="3812931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accent1"/>
                </a:solidFill>
              </a:rPr>
              <a:t>Три ключевых понятия:</a:t>
            </a:r>
            <a:endParaRPr lang="ru-RU" b="0" dirty="0">
              <a:solidFill>
                <a:schemeClr val="accent1"/>
              </a:solidFill>
            </a:endParaRPr>
          </a:p>
        </p:txBody>
      </p:sp>
      <p:sp>
        <p:nvSpPr>
          <p:cNvPr id="289861472" name="Текст 8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3864598"/>
            <a:ext cx="4097664" cy="2856884"/>
          </a:xfrm>
        </p:spPr>
        <p:txBody>
          <a:bodyPr>
            <a:normAutofit fontScale="92500" lnSpcReduction="20000"/>
          </a:bodyPr>
          <a:lstStyle/>
          <a:p>
            <a:r>
              <a:rPr lang="ru-RU" sz="2200" dirty="0">
                <a:solidFill>
                  <a:srgbClr val="7030A0"/>
                </a:solidFill>
              </a:rPr>
              <a:t>Экран кратко и наглядно объясняет три типа финансовых решений через понятные иконки и короткие фразы</a:t>
            </a:r>
            <a:r>
              <a:rPr lang="ru-RU" sz="2200" dirty="0" smtClean="0">
                <a:solidFill>
                  <a:srgbClr val="7030A0"/>
                </a:solidFill>
              </a:rPr>
              <a:t>:</a:t>
            </a:r>
          </a:p>
          <a:p>
            <a:r>
              <a:rPr lang="ru-RU" sz="2200" dirty="0" smtClean="0">
                <a:solidFill>
                  <a:srgbClr val="7030A0"/>
                </a:solidFill>
              </a:rPr>
              <a:t>🍗 </a:t>
            </a:r>
            <a:r>
              <a:rPr lang="ru-RU" sz="2200" b="1" dirty="0">
                <a:solidFill>
                  <a:srgbClr val="7030A0"/>
                </a:solidFill>
              </a:rPr>
              <a:t>Обязательные расходы</a:t>
            </a:r>
            <a:r>
              <a:rPr lang="ru-RU" sz="2200" dirty="0">
                <a:solidFill>
                  <a:srgbClr val="7030A0"/>
                </a:solidFill>
              </a:rPr>
              <a:t> — еда, вода и уход</a:t>
            </a:r>
          </a:p>
          <a:p>
            <a:r>
              <a:rPr lang="ru-RU" sz="2200" dirty="0">
                <a:solidFill>
                  <a:srgbClr val="7030A0"/>
                </a:solidFill>
              </a:rPr>
              <a:t>🎮 </a:t>
            </a:r>
            <a:r>
              <a:rPr lang="ru-RU" sz="2200" b="1" dirty="0">
                <a:solidFill>
                  <a:srgbClr val="7030A0"/>
                </a:solidFill>
              </a:rPr>
              <a:t>Желания</a:t>
            </a:r>
            <a:r>
              <a:rPr lang="ru-RU" sz="2200" dirty="0">
                <a:solidFill>
                  <a:srgbClr val="7030A0"/>
                </a:solidFill>
              </a:rPr>
              <a:t> — игрушки и развлечения</a:t>
            </a:r>
          </a:p>
          <a:p>
            <a:r>
              <a:rPr lang="ru-RU" sz="2200" dirty="0">
                <a:solidFill>
                  <a:srgbClr val="7030A0"/>
                </a:solidFill>
              </a:rPr>
              <a:t>🐷 </a:t>
            </a:r>
            <a:r>
              <a:rPr lang="ru-RU" sz="2200" b="1" dirty="0">
                <a:solidFill>
                  <a:srgbClr val="7030A0"/>
                </a:solidFill>
              </a:rPr>
              <a:t>Накопления</a:t>
            </a:r>
            <a:r>
              <a:rPr lang="ru-RU" sz="2200" dirty="0">
                <a:solidFill>
                  <a:srgbClr val="7030A0"/>
                </a:solidFill>
              </a:rPr>
              <a:t> — на большую мечту</a:t>
            </a:r>
          </a:p>
          <a:p>
            <a:pPr>
              <a:defRPr/>
            </a:pPr>
            <a:endParaRPr lang="ru-RU" sz="2000" dirty="0">
              <a:solidFill>
                <a:srgbClr val="7030A0"/>
              </a:solidFill>
            </a:endParaRPr>
          </a:p>
        </p:txBody>
      </p:sp>
      <p:sp>
        <p:nvSpPr>
          <p:cNvPr id="132040605" name="Текст 9"/>
          <p:cNvSpPr>
            <a:spLocks noGrp="1"/>
          </p:cNvSpPr>
          <p:nvPr>
            <p:ph type="body" sz="quarter" idx="26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accent1"/>
                </a:solidFill>
              </a:rPr>
              <a:t>Простой призыв к действию:</a:t>
            </a:r>
            <a:r>
              <a:rPr lang="ru-RU" b="0" dirty="0">
                <a:solidFill>
                  <a:schemeClr val="accent1"/>
                </a:solidFill>
              </a:rPr>
              <a:t> </a:t>
            </a:r>
            <a:endParaRPr lang="ru-RU" b="0" dirty="0">
              <a:solidFill>
                <a:schemeClr val="accent1"/>
              </a:solidFill>
            </a:endParaRPr>
          </a:p>
        </p:txBody>
      </p:sp>
      <p:sp>
        <p:nvSpPr>
          <p:cNvPr id="1124906780" name="Текст 10"/>
          <p:cNvSpPr>
            <a:spLocks noGrp="1"/>
          </p:cNvSpPr>
          <p:nvPr>
            <p:ph type="body" sz="quarter" idx="27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000" dirty="0">
                <a:solidFill>
                  <a:srgbClr val="7030A0"/>
                </a:solidFill>
              </a:rPr>
              <a:t>Яркая кнопка «Начать» запускает создание питомца и переход к основному игровому циклу.</a:t>
            </a:r>
            <a:endParaRPr lang="ru-RU" sz="2000" dirty="0">
              <a:solidFill>
                <a:srgbClr val="7030A0"/>
              </a:solidFill>
            </a:endParaRPr>
          </a:p>
        </p:txBody>
      </p:sp>
      <p:sp>
        <p:nvSpPr>
          <p:cNvPr id="1859134843" name="Номер слайда 11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14</a:t>
            </a:fld>
            <a:endParaRPr lang="ru-RU">
              <a:solidFill>
                <a:schemeClr val="accent5"/>
              </a:solidFill>
            </a:endParaRPr>
          </a:p>
        </p:txBody>
      </p:sp>
      <p:grpSp>
        <p:nvGrpSpPr>
          <p:cNvPr id="2147341694" name="Группа 12"/>
          <p:cNvGrpSpPr/>
          <p:nvPr/>
        </p:nvGrpSpPr>
        <p:grpSpPr bwMode="auto">
          <a:xfrm>
            <a:off x="4951937" y="1208818"/>
            <a:ext cx="2268386" cy="4662886"/>
            <a:chOff x="5193506" y="1574276"/>
            <a:chExt cx="1802607" cy="3705431"/>
          </a:xfrm>
        </p:grpSpPr>
        <p:sp>
          <p:nvSpPr>
            <p:cNvPr id="14" name="Полилиния: фигура 13"/>
            <p:cNvSpPr/>
            <p:nvPr/>
          </p:nvSpPr>
          <p:spPr bwMode="auto">
            <a:xfrm>
              <a:off x="5210727" y="157427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4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5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6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7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8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9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0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1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2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33" name="Рисунок 32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4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5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6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7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71457218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Описание главного экрана </a:t>
            </a:r>
            <a:r>
              <a:rPr lang="ru-RU" dirty="0" smtClean="0"/>
              <a:t>приветствия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684" y="1546370"/>
            <a:ext cx="624813" cy="7081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67118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26132546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42013660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08465266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2901832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34496466" name="Заголовок 13"/>
          <p:cNvSpPr>
            <a:spLocks noGrp="1"/>
          </p:cNvSpPr>
          <p:nvPr>
            <p:ph type="title"/>
          </p:nvPr>
        </p:nvSpPr>
        <p:spPr bwMode="auto">
          <a:xfrm>
            <a:off x="121513" y="470338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 smtClean="0"/>
              <a:t>Текущий </a:t>
            </a:r>
            <a:r>
              <a:rPr lang="ru-RU" dirty="0"/>
              <a:t>этап:</a:t>
            </a:r>
            <a:r>
              <a:rPr lang="ru-RU" b="0" dirty="0"/>
              <a:t> Интерактивный кликабельный </a:t>
            </a:r>
            <a:r>
              <a:rPr lang="ru-RU" b="0" dirty="0" smtClean="0"/>
              <a:t>прототип</a:t>
            </a:r>
            <a:br>
              <a:rPr lang="ru-RU" b="0" dirty="0" smtClean="0"/>
            </a:br>
            <a:r>
              <a:rPr lang="ru-RU" b="0" dirty="0" smtClean="0"/>
              <a:t> </a:t>
            </a:r>
            <a:r>
              <a:rPr lang="ru-RU" b="0" dirty="0"/>
              <a:t>в </a:t>
            </a:r>
            <a:r>
              <a:rPr lang="ru-RU" b="0" dirty="0" err="1"/>
              <a:t>Figma</a:t>
            </a:r>
            <a:r>
              <a:rPr lang="ru-RU" b="0" dirty="0"/>
              <a:t> </a:t>
            </a:r>
            <a:r>
              <a:rPr lang="ru-RU" b="0" dirty="0" smtClean="0"/>
              <a:t>(ключевые экраны, </a:t>
            </a:r>
            <a:r>
              <a:rPr lang="ru-RU" b="0" dirty="0"/>
              <a:t>полный сценарий).</a:t>
            </a:r>
            <a:endParaRPr lang="ru-RU" dirty="0"/>
          </a:p>
        </p:txBody>
      </p:sp>
      <p:sp>
        <p:nvSpPr>
          <p:cNvPr id="1670464104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03608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01979161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57903" y="963371"/>
            <a:ext cx="771003" cy="403756"/>
          </a:xfrm>
        </p:spPr>
        <p:txBody>
          <a:bodyPr/>
          <a:lstStyle/>
          <a:p>
            <a:pPr>
              <a:defRPr/>
            </a:pP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810756210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992142"/>
            <a:ext cx="771003" cy="403913"/>
          </a:xfrm>
        </p:spPr>
        <p:txBody>
          <a:bodyPr/>
          <a:lstStyle/>
          <a:p>
            <a:pPr>
              <a:defRPr/>
            </a:pP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013495690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393353" y="972427"/>
            <a:ext cx="771003" cy="423628"/>
          </a:xfrm>
        </p:spPr>
        <p:txBody>
          <a:bodyPr/>
          <a:lstStyle/>
          <a:p>
            <a:pPr>
              <a:defRPr/>
            </a:pP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48" y="1551637"/>
            <a:ext cx="2190494" cy="460417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83" y="1540078"/>
            <a:ext cx="2133785" cy="462728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428" y="1540078"/>
            <a:ext cx="2151491" cy="459307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903" y="1540078"/>
            <a:ext cx="2271271" cy="465817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916" y="1843293"/>
            <a:ext cx="646007" cy="7321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474697" name="Скругленный прямоугольник 11"/>
          <p:cNvSpPr/>
          <p:nvPr/>
        </p:nvSpPr>
        <p:spPr bwMode="auto">
          <a:xfrm>
            <a:off x="401057" y="4991827"/>
            <a:ext cx="2739249" cy="1729654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24626635" name="Скругленный прямоугольник 13"/>
          <p:cNvSpPr/>
          <p:nvPr/>
        </p:nvSpPr>
        <p:spPr bwMode="auto">
          <a:xfrm>
            <a:off x="3302626" y="4991827"/>
            <a:ext cx="2739248" cy="1729654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71937571" name="Скругленный прямоугольник 14"/>
          <p:cNvSpPr/>
          <p:nvPr/>
        </p:nvSpPr>
        <p:spPr bwMode="auto">
          <a:xfrm>
            <a:off x="6204193" y="4991827"/>
            <a:ext cx="2739249" cy="1729654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62120859" name="Скругленный прямоугольник 15"/>
          <p:cNvSpPr/>
          <p:nvPr/>
        </p:nvSpPr>
        <p:spPr bwMode="auto">
          <a:xfrm>
            <a:off x="9105761" y="4991827"/>
            <a:ext cx="2739249" cy="1729654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50330551" name="Скругленный прямоугольник 9"/>
          <p:cNvSpPr/>
          <p:nvPr/>
        </p:nvSpPr>
        <p:spPr bwMode="auto">
          <a:xfrm>
            <a:off x="346074" y="324563"/>
            <a:ext cx="4683125" cy="621958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2" name="Рисунок 1"/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4" b="1174"/>
          <a:stretch>
            <a:fillRect/>
          </a:stretch>
        </p:blipFill>
        <p:spPr bwMode="auto">
          <a:xfrm>
            <a:off x="1044575" y="1139825"/>
            <a:ext cx="1727200" cy="3657600"/>
          </a:xfrm>
          <a:prstGeom prst="rect">
            <a:avLst/>
          </a:prstGeom>
          <a:noFill/>
        </p:spPr>
      </p:pic>
      <p:pic>
        <p:nvPicPr>
          <p:cNvPr id="3" name="Рисунок 2"/>
          <p:cNvPicPr>
            <a:picLocks noGrp="1" noChangeAspect="1"/>
          </p:cNvPicPr>
          <p:nvPr>
            <p:ph type="pic" sz="quarter" idx="1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0" r="1620"/>
          <a:stretch>
            <a:fillRect/>
          </a:stretch>
        </p:blipFill>
        <p:spPr bwMode="auto">
          <a:xfrm>
            <a:off x="3770313" y="1139825"/>
            <a:ext cx="1725612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/>
          <p:cNvPicPr>
            <a:picLocks noGrp="1" noChangeAspect="1"/>
          </p:cNvPicPr>
          <p:nvPr>
            <p:ph type="pic" sz="quarter" idx="16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" b="357"/>
          <a:stretch>
            <a:fillRect/>
          </a:stretch>
        </p:blipFill>
        <p:spPr bwMode="auto">
          <a:xfrm>
            <a:off x="6753225" y="1144588"/>
            <a:ext cx="1725613" cy="3657600"/>
          </a:xfrm>
          <a:prstGeom prst="rect">
            <a:avLst/>
          </a:prstGeom>
          <a:noFill/>
        </p:spPr>
      </p:pic>
      <p:pic>
        <p:nvPicPr>
          <p:cNvPr id="5" name="Рисунок 4"/>
          <p:cNvPicPr>
            <a:picLocks noGrp="1" noChangeAspect="1"/>
          </p:cNvPicPr>
          <p:nvPr>
            <p:ph type="pic" sz="quarter" idx="17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" r="418"/>
          <a:stretch>
            <a:fillRect/>
          </a:stretch>
        </p:blipFill>
        <p:spPr bwMode="auto">
          <a:xfrm>
            <a:off x="9621838" y="1120775"/>
            <a:ext cx="1725612" cy="3657600"/>
          </a:xfrm>
          <a:prstGeom prst="rect">
            <a:avLst/>
          </a:prstGeom>
          <a:noFill/>
        </p:spPr>
      </p:pic>
      <p:sp>
        <p:nvSpPr>
          <p:cNvPr id="450772473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16</a:t>
            </a:fld>
            <a:endParaRPr lang="ru-RU"/>
          </a:p>
        </p:txBody>
      </p:sp>
      <p:sp>
        <p:nvSpPr>
          <p:cNvPr id="346221084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449155" y="5035450"/>
            <a:ext cx="2658088" cy="1686031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ru-RU" dirty="0">
                <a:solidFill>
                  <a:srgbClr val="7030A0"/>
                </a:solidFill>
              </a:rPr>
              <a:t>Экран </a:t>
            </a:r>
            <a:r>
              <a:rPr lang="ru-RU" dirty="0" smtClean="0">
                <a:solidFill>
                  <a:srgbClr val="7030A0"/>
                </a:solidFill>
              </a:rPr>
              <a:t>приветствия</a:t>
            </a:r>
          </a:p>
          <a:p>
            <a:r>
              <a:rPr lang="ru-RU" dirty="0">
                <a:solidFill>
                  <a:srgbClr val="7030A0"/>
                </a:solidFill>
              </a:rPr>
              <a:t>Знакомство ребёнка с тремя типами финансовых решений: обязательные расходы, желания, накопления</a:t>
            </a:r>
          </a:p>
          <a:p>
            <a:r>
              <a:rPr lang="ru-RU" dirty="0">
                <a:solidFill>
                  <a:srgbClr val="7030A0"/>
                </a:solidFill>
              </a:rPr>
              <a:t>Короткое объяснение цели игры простыми словами</a:t>
            </a:r>
          </a:p>
          <a:p>
            <a:r>
              <a:rPr lang="ru-RU" dirty="0">
                <a:solidFill>
                  <a:srgbClr val="7030A0"/>
                </a:solidFill>
              </a:rPr>
              <a:t>Кнопка «Начать» запускает создание питомца</a:t>
            </a:r>
          </a:p>
          <a:p>
            <a:pPr>
              <a:defRPr/>
            </a:pPr>
            <a:endParaRPr lang="ru-RU" dirty="0">
              <a:solidFill>
                <a:srgbClr val="7030A0"/>
              </a:solidFill>
              <a:latin typeface="Montserrat"/>
            </a:endParaRPr>
          </a:p>
        </p:txBody>
      </p:sp>
      <p:sp>
        <p:nvSpPr>
          <p:cNvPr id="1099957748" name="Текст 6"/>
          <p:cNvSpPr>
            <a:spLocks noGrp="1"/>
          </p:cNvSpPr>
          <p:nvPr>
            <p:ph type="body" sz="quarter" idx="19"/>
          </p:nvPr>
        </p:nvSpPr>
        <p:spPr bwMode="auto">
          <a:xfrm>
            <a:off x="3302625" y="5035450"/>
            <a:ext cx="2581982" cy="1686031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ru-RU" dirty="0">
                <a:solidFill>
                  <a:srgbClr val="7030A0"/>
                </a:solidFill>
              </a:rPr>
              <a:t>Создание </a:t>
            </a:r>
            <a:r>
              <a:rPr lang="ru-RU" dirty="0" smtClean="0">
                <a:solidFill>
                  <a:srgbClr val="7030A0"/>
                </a:solidFill>
              </a:rPr>
              <a:t>питомца</a:t>
            </a:r>
          </a:p>
          <a:p>
            <a:r>
              <a:rPr lang="ru-RU" dirty="0">
                <a:solidFill>
                  <a:srgbClr val="7030A0"/>
                </a:solidFill>
              </a:rPr>
              <a:t>9 комбинаций: 3 вида (щенок, котёнок, хомячок) × 3 цвета</a:t>
            </a:r>
          </a:p>
          <a:p>
            <a:r>
              <a:rPr lang="ru-RU" dirty="0">
                <a:solidFill>
                  <a:srgbClr val="7030A0"/>
                </a:solidFill>
              </a:rPr>
              <a:t>Ребёнок сам задаёт имя питомцу (по умолчанию «Тоби»)</a:t>
            </a:r>
          </a:p>
          <a:p>
            <a:r>
              <a:rPr lang="ru-RU" dirty="0">
                <a:solidFill>
                  <a:srgbClr val="7030A0"/>
                </a:solidFill>
              </a:rPr>
              <a:t>Питомец становится эмоциональным центром приложения</a:t>
            </a:r>
          </a:p>
          <a:p>
            <a:pPr>
              <a:defRPr/>
            </a:pPr>
            <a:endParaRPr lang="ru-RU" dirty="0">
              <a:solidFill>
                <a:srgbClr val="7030A0"/>
              </a:solidFill>
              <a:latin typeface="Montserrat"/>
            </a:endParaRPr>
          </a:p>
        </p:txBody>
      </p:sp>
      <p:sp>
        <p:nvSpPr>
          <p:cNvPr id="646483116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204192" y="5035451"/>
            <a:ext cx="2615343" cy="1686030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ru-RU" dirty="0">
                <a:solidFill>
                  <a:srgbClr val="7030A0"/>
                </a:solidFill>
              </a:rPr>
              <a:t>Планирование </a:t>
            </a:r>
            <a:r>
              <a:rPr lang="ru-RU" dirty="0" smtClean="0">
                <a:solidFill>
                  <a:srgbClr val="7030A0"/>
                </a:solidFill>
              </a:rPr>
              <a:t>бюджета</a:t>
            </a:r>
          </a:p>
          <a:p>
            <a:r>
              <a:rPr lang="ru-RU" dirty="0">
                <a:solidFill>
                  <a:srgbClr val="7030A0"/>
                </a:solidFill>
              </a:rPr>
              <a:t>Распределение стартовых 100 монет по 3 направлениям</a:t>
            </a:r>
          </a:p>
          <a:p>
            <a:r>
              <a:rPr lang="ru-RU" dirty="0">
                <a:solidFill>
                  <a:srgbClr val="7030A0"/>
                </a:solidFill>
              </a:rPr>
              <a:t>Слайдеры с контролем остатка</a:t>
            </a:r>
          </a:p>
          <a:p>
            <a:r>
              <a:rPr lang="ru-RU" dirty="0">
                <a:solidFill>
                  <a:srgbClr val="7030A0"/>
                </a:solidFill>
              </a:rPr>
              <a:t>Обучение принципу «сначала обязательное, потом желания, потом накопления»</a:t>
            </a:r>
          </a:p>
          <a:p>
            <a:pPr>
              <a:defRPr/>
            </a:pPr>
            <a:endParaRPr lang="ru-RU" dirty="0">
              <a:solidFill>
                <a:srgbClr val="7030A0"/>
              </a:solidFill>
              <a:latin typeface="Montserrat"/>
            </a:endParaRPr>
          </a:p>
        </p:txBody>
      </p:sp>
      <p:sp>
        <p:nvSpPr>
          <p:cNvPr id="1102531278" name="Текст 8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5035451"/>
            <a:ext cx="2564188" cy="168603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ru-RU" dirty="0">
                <a:solidFill>
                  <a:srgbClr val="7030A0"/>
                </a:solidFill>
              </a:rPr>
              <a:t>Накопления с «Ананас Татьяной</a:t>
            </a:r>
            <a:r>
              <a:rPr lang="ru-RU" dirty="0" smtClean="0">
                <a:solidFill>
                  <a:srgbClr val="7030A0"/>
                </a:solidFill>
              </a:rPr>
              <a:t>»</a:t>
            </a:r>
          </a:p>
          <a:p>
            <a:r>
              <a:rPr lang="ru-RU" dirty="0">
                <a:solidFill>
                  <a:srgbClr val="7030A0"/>
                </a:solidFill>
              </a:rPr>
              <a:t>Выбор цели из 3 вариантов (например, «Домик для Тоби»)</a:t>
            </a:r>
          </a:p>
          <a:p>
            <a:r>
              <a:rPr lang="ru-RU" dirty="0">
                <a:solidFill>
                  <a:srgbClr val="7030A0"/>
                </a:solidFill>
              </a:rPr>
              <a:t>Кнопки быстрого пополнения (+5, +10, +20)</a:t>
            </a:r>
          </a:p>
          <a:p>
            <a:r>
              <a:rPr lang="ru-RU" dirty="0">
                <a:solidFill>
                  <a:srgbClr val="7030A0"/>
                </a:solidFill>
              </a:rPr>
              <a:t>Визуальный прогресс-бар и </a:t>
            </a:r>
            <a:r>
              <a:rPr lang="ru-RU" dirty="0" smtClean="0">
                <a:solidFill>
                  <a:srgbClr val="7030A0"/>
                </a:solidFill>
              </a:rPr>
              <a:t>персонаж-помощник</a:t>
            </a:r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grpSp>
        <p:nvGrpSpPr>
          <p:cNvPr id="1453722628" name="Группа 121"/>
          <p:cNvGrpSpPr/>
          <p:nvPr/>
        </p:nvGrpSpPr>
        <p:grpSpPr bwMode="auto"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4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5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6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7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8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9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0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1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2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3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4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5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6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7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8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9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0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1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42" name="Рисунок 141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4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5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6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38253593" name="Группа 146"/>
          <p:cNvGrpSpPr/>
          <p:nvPr/>
        </p:nvGrpSpPr>
        <p:grpSpPr bwMode="auto"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9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0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1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2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3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4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5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6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7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8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9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0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1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2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3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4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5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6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67" name="Рисунок 166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9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0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1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267088844" name="Группа 171"/>
          <p:cNvGrpSpPr/>
          <p:nvPr/>
        </p:nvGrpSpPr>
        <p:grpSpPr bwMode="auto"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4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5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6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7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8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9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0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1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2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3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4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5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6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7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8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9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0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1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92" name="Рисунок 191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4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5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6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899877836" name="Группа 196"/>
          <p:cNvGrpSpPr/>
          <p:nvPr/>
        </p:nvGrpSpPr>
        <p:grpSpPr bwMode="auto"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9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0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1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2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3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4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5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6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7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8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9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0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1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2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3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4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5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6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217" name="Рисунок 216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9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0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1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13458689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Подробное описание </a:t>
            </a:r>
            <a:r>
              <a:rPr lang="ru-RU" dirty="0" smtClean="0"/>
              <a:t>решения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547861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71010121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69655976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4976480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07458128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chemeClr val="accent1"/>
                </a:solidFill>
              </a:rPr>
              <a:t>Финальный стек:</a:t>
            </a:r>
            <a:endParaRPr lang="ru-RU" sz="1800" dirty="0">
              <a:solidFill>
                <a:schemeClr val="accent1"/>
              </a:solidFill>
            </a:endParaRPr>
          </a:p>
        </p:txBody>
      </p:sp>
      <p:sp>
        <p:nvSpPr>
          <p:cNvPr id="483271016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000" dirty="0" err="1">
                <a:solidFill>
                  <a:schemeClr val="accent6">
                    <a:lumMod val="90000"/>
                    <a:lumOff val="10000"/>
                  </a:schemeClr>
                </a:solidFill>
              </a:rPr>
              <a:t>Нативная</a:t>
            </a:r>
            <a:r>
              <a:rPr lang="ru-RU" sz="3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разработка на </a:t>
            </a:r>
            <a:r>
              <a:rPr lang="ru-RU" sz="3000" dirty="0" err="1">
                <a:solidFill>
                  <a:schemeClr val="accent6">
                    <a:lumMod val="90000"/>
                    <a:lumOff val="10000"/>
                  </a:schemeClr>
                </a:solidFill>
              </a:rPr>
              <a:t>Kotlin</a:t>
            </a:r>
            <a:r>
              <a:rPr lang="ru-RU" sz="3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+ </a:t>
            </a:r>
            <a:r>
              <a:rPr lang="ru-RU" sz="3000" dirty="0" err="1">
                <a:solidFill>
                  <a:schemeClr val="accent6">
                    <a:lumMod val="90000"/>
                    <a:lumOff val="10000"/>
                  </a:schemeClr>
                </a:solidFill>
              </a:rPr>
              <a:t>Jetpack</a:t>
            </a:r>
            <a:r>
              <a:rPr lang="ru-RU" sz="3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  <a:r>
              <a:rPr lang="ru-RU" sz="3000" dirty="0" err="1">
                <a:solidFill>
                  <a:schemeClr val="accent6">
                    <a:lumMod val="90000"/>
                    <a:lumOff val="10000"/>
                  </a:schemeClr>
                </a:solidFill>
              </a:rPr>
              <a:t>Compose</a:t>
            </a:r>
            <a:r>
              <a:rPr lang="ru-RU" sz="3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.</a:t>
            </a:r>
            <a:endParaRPr lang="ru-RU" sz="30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08701650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chemeClr val="accent1"/>
                </a:solidFill>
              </a:rPr>
              <a:t>Хранение данных:</a:t>
            </a:r>
            <a:endParaRPr lang="ru-RU" sz="1800" dirty="0">
              <a:solidFill>
                <a:schemeClr val="accent1"/>
              </a:solidFill>
            </a:endParaRPr>
          </a:p>
        </p:txBody>
      </p:sp>
      <p:sp>
        <p:nvSpPr>
          <p:cNvPr id="1090063106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000" dirty="0" err="1">
                <a:solidFill>
                  <a:schemeClr val="accent6">
                    <a:lumMod val="90000"/>
                    <a:lumOff val="10000"/>
                  </a:schemeClr>
                </a:solidFill>
              </a:rPr>
              <a:t>Room</a:t>
            </a:r>
            <a:r>
              <a:rPr lang="ru-RU" sz="3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(локальная БД) для полностью офлайн-работы.</a:t>
            </a:r>
            <a:endParaRPr lang="ru-RU" sz="30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755119322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chemeClr val="accent1"/>
                </a:solidFill>
              </a:rPr>
              <a:t>Архитектура:</a:t>
            </a:r>
            <a:endParaRPr lang="ru-RU" sz="1800" dirty="0">
              <a:solidFill>
                <a:schemeClr val="accent1"/>
              </a:solidFill>
            </a:endParaRPr>
          </a:p>
        </p:txBody>
      </p:sp>
      <p:sp>
        <p:nvSpPr>
          <p:cNvPr id="314138761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Строгое разделение слоя данных, бизнес-логики и UI. Учебный контент вынесен в отдельный JSON-</a:t>
            </a:r>
            <a:r>
              <a:rPr lang="ru-RU" sz="2000" dirty="0" err="1">
                <a:solidFill>
                  <a:schemeClr val="accent6">
                    <a:lumMod val="90000"/>
                    <a:lumOff val="10000"/>
                  </a:schemeClr>
                </a:solidFill>
              </a:rPr>
              <a:t>конфиг</a:t>
            </a:r>
            <a:r>
              <a:rPr lang="ru-RU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, что позволяет добавлять новые задания без переработки кода.</a:t>
            </a:r>
            <a:endParaRPr lang="ru-RU" sz="20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082437725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Техническая суть </a:t>
            </a:r>
            <a:r>
              <a:rPr lang="ru-RU" dirty="0" smtClean="0">
                <a:solidFill>
                  <a:schemeClr val="accent6">
                    <a:lumMod val="75000"/>
                    <a:lumOff val="25000"/>
                  </a:schemeClr>
                </a:solidFill>
              </a:rPr>
              <a:t>решения</a:t>
            </a:r>
            <a:endParaRPr lang="ru-RU" dirty="0">
              <a:solidFill>
                <a:schemeClr val="accent6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8049357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>
              <a:defRPr/>
            </a:pP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140688026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>
              <a:defRPr/>
            </a:pP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1298374215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>
              <a:defRPr/>
            </a:pPr>
            <a:endParaRPr lang="ru-RU" sz="4400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720002" name="Скругленный прямоугольник 1"/>
          <p:cNvSpPr/>
          <p:nvPr/>
        </p:nvSpPr>
        <p:spPr bwMode="auto">
          <a:xfrm>
            <a:off x="346074" y="421226"/>
            <a:ext cx="3713307" cy="524255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26811627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11918681" name="Текст 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0"/>
            <a:ext cx="7094072" cy="5184775"/>
          </a:xfrm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>
            <a:noAutofit/>
          </a:bodyPr>
          <a:lstStyle/>
          <a:p>
            <a:r>
              <a:rPr lang="ru-RU" sz="18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Синергия авторской методики, профессионального </a:t>
            </a:r>
            <a:r>
              <a:rPr lang="ru-RU" sz="1800" dirty="0" err="1">
                <a:solidFill>
                  <a:schemeClr val="accent6">
                    <a:lumMod val="90000"/>
                    <a:lumOff val="10000"/>
                  </a:schemeClr>
                </a:solidFill>
              </a:rPr>
              <a:t>нарративного</a:t>
            </a:r>
            <a:r>
              <a:rPr lang="ru-RU" sz="18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дизайна и аутентичной детской графики</a:t>
            </a:r>
            <a:r>
              <a:rPr lang="ru-RU" sz="1800" dirty="0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ru-RU" sz="3000" dirty="0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 </a:t>
            </a:r>
            <a:r>
              <a:rPr lang="ru-RU" sz="1800" dirty="0">
                <a:solidFill>
                  <a:srgbClr val="7030A0"/>
                </a:solidFill>
              </a:rPr>
              <a:t>📚 </a:t>
            </a:r>
            <a:r>
              <a:rPr lang="ru-RU" sz="1800" b="1" dirty="0">
                <a:solidFill>
                  <a:srgbClr val="7030A0"/>
                </a:solidFill>
              </a:rPr>
              <a:t>Собственная методическая база:</a:t>
            </a:r>
            <a:r>
              <a:rPr lang="ru-RU" sz="1800" dirty="0">
                <a:solidFill>
                  <a:srgbClr val="7030A0"/>
                </a:solidFill>
              </a:rPr>
              <a:t> В основе приложения лежит авторская книга </a:t>
            </a:r>
            <a:r>
              <a:rPr lang="ru-RU" sz="1800" b="1" dirty="0">
                <a:solidFill>
                  <a:srgbClr val="7030A0"/>
                </a:solidFill>
              </a:rPr>
              <a:t>«Жанна экономит»</a:t>
            </a:r>
            <a:r>
              <a:rPr lang="ru-RU" sz="1800" dirty="0">
                <a:solidFill>
                  <a:srgbClr val="7030A0"/>
                </a:solidFill>
              </a:rPr>
              <a:t> (автор: Жанна </a:t>
            </a:r>
            <a:r>
              <a:rPr lang="ru-RU" sz="1800" dirty="0" err="1">
                <a:solidFill>
                  <a:srgbClr val="7030A0"/>
                </a:solidFill>
              </a:rPr>
              <a:t>Калеева</a:t>
            </a:r>
            <a:r>
              <a:rPr lang="ru-RU" sz="1800" dirty="0">
                <a:solidFill>
                  <a:srgbClr val="7030A0"/>
                </a:solidFill>
              </a:rPr>
              <a:t>, псевдоним «Веня Сбереженя»). Тексты всех игровых заданий уже разработаны на базе этой книги и в данный момент адаптируются сценаристом команды под возрастную группу 7–11 лет. Это гарантирует высокое качество, уникальность и педагогическую ценность контента.</a:t>
            </a:r>
            <a:br>
              <a:rPr lang="ru-RU" sz="1800" dirty="0">
                <a:solidFill>
                  <a:srgbClr val="7030A0"/>
                </a:solidFill>
              </a:rPr>
            </a:br>
            <a:r>
              <a:rPr lang="ru-RU" sz="1800" dirty="0">
                <a:solidFill>
                  <a:srgbClr val="7030A0"/>
                </a:solidFill>
              </a:rPr>
              <a:t>🔗 </a:t>
            </a:r>
            <a:r>
              <a:rPr lang="ru-RU" sz="1800" i="1" u="sng" dirty="0">
                <a:solidFill>
                  <a:srgbClr val="7030A0"/>
                </a:solidFill>
                <a:hlinkClick r:id="rId4"/>
              </a:rPr>
              <a:t>Ознакомиться с книгой на </a:t>
            </a:r>
            <a:r>
              <a:rPr lang="ru-RU" sz="1800" i="1" u="sng" dirty="0" err="1">
                <a:solidFill>
                  <a:srgbClr val="7030A0"/>
                </a:solidFill>
                <a:hlinkClick r:id="rId4"/>
              </a:rPr>
              <a:t>Ridero</a:t>
            </a:r>
            <a:endParaRPr lang="ru-RU" sz="1800" dirty="0">
              <a:solidFill>
                <a:srgbClr val="7030A0"/>
              </a:solidFill>
            </a:endParaRPr>
          </a:p>
          <a:p>
            <a:r>
              <a:rPr lang="ru-RU" sz="1800" dirty="0">
                <a:solidFill>
                  <a:srgbClr val="7030A0"/>
                </a:solidFill>
              </a:rPr>
              <a:t>🎨 </a:t>
            </a:r>
            <a:r>
              <a:rPr lang="ru-RU" sz="1800" b="1" dirty="0">
                <a:solidFill>
                  <a:srgbClr val="7030A0"/>
                </a:solidFill>
              </a:rPr>
              <a:t>Авторская графика:</a:t>
            </a:r>
            <a:r>
              <a:rPr lang="ru-RU" sz="1800" dirty="0">
                <a:solidFill>
                  <a:srgbClr val="7030A0"/>
                </a:solidFill>
              </a:rPr>
              <a:t> Оригинальные иллюстрации персонажей (Тоби и Ананас Татьяна), созданные профессиональной художницей Маринетт </a:t>
            </a:r>
            <a:r>
              <a:rPr lang="ru-RU" sz="1800" dirty="0" err="1">
                <a:solidFill>
                  <a:srgbClr val="7030A0"/>
                </a:solidFill>
              </a:rPr>
              <a:t>Мортем</a:t>
            </a:r>
            <a:r>
              <a:rPr lang="ru-RU" sz="1800" dirty="0">
                <a:solidFill>
                  <a:srgbClr val="7030A0"/>
                </a:solidFill>
              </a:rPr>
              <a:t>. Письменное согласие автора на использование, адаптацию и распространение данных иллюстраций в составе приложения получено.</a:t>
            </a:r>
            <a:br>
              <a:rPr lang="ru-RU" sz="1800" dirty="0">
                <a:solidFill>
                  <a:srgbClr val="7030A0"/>
                </a:solidFill>
              </a:rPr>
            </a:br>
            <a:r>
              <a:rPr lang="ru-RU" sz="1800" dirty="0">
                <a:solidFill>
                  <a:srgbClr val="7030A0"/>
                </a:solidFill>
              </a:rPr>
              <a:t>🔗 </a:t>
            </a:r>
            <a:r>
              <a:rPr lang="ru-RU" sz="1800" i="1" u="sng" dirty="0">
                <a:solidFill>
                  <a:srgbClr val="7030A0"/>
                </a:solidFill>
                <a:hlinkClick r:id="rId5"/>
              </a:rPr>
              <a:t>Портфолио и комиксы художника</a:t>
            </a:r>
            <a:endParaRPr lang="ru-RU" sz="1800" dirty="0">
              <a:solidFill>
                <a:srgbClr val="7030A0"/>
              </a:solidFill>
            </a:endParaRPr>
          </a:p>
          <a:p>
            <a:pPr marL="0" indent="0">
              <a:buNone/>
              <a:defRPr/>
            </a:pPr>
            <a:endParaRPr lang="ru-RU" sz="30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8933794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3533565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Уникальность </a:t>
            </a:r>
            <a:r>
              <a:rPr lang="ru-RU" dirty="0" smtClean="0"/>
              <a:t>решения</a:t>
            </a:r>
            <a:endParaRPr lang="ru-RU" dirty="0"/>
          </a:p>
        </p:txBody>
      </p:sp>
      <p:pic>
        <p:nvPicPr>
          <p:cNvPr id="7" name="Рисунок 6"/>
          <p:cNvPicPr>
            <a:picLocks noGrp="1" noChangeAspect="1"/>
          </p:cNvPicPr>
          <p:nvPr>
            <p:ph type="pic" sz="quarter" idx="10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7" b="3417"/>
          <a:stretch>
            <a:fillRect/>
          </a:stretch>
        </p:blipFill>
        <p:spPr>
          <a:xfrm>
            <a:off x="7566849" y="1016000"/>
            <a:ext cx="4405777" cy="3078479"/>
          </a:xfrm>
        </p:spPr>
      </p:pic>
      <p:pic>
        <p:nvPicPr>
          <p:cNvPr id="11" name="Рисунок 10"/>
          <p:cNvPicPr>
            <a:picLocks noGrp="1" noChangeAspect="1"/>
          </p:cNvPicPr>
          <p:nvPr>
            <p:ph type="pic" sz="quarter" idx="1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41" b="29441"/>
          <a:stretch>
            <a:fillRect/>
          </a:stretch>
        </p:blipFill>
        <p:spPr>
          <a:xfrm>
            <a:off x="7566851" y="4319584"/>
            <a:ext cx="4405775" cy="1811668"/>
          </a:xfr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550720" name="Скругленный прямоугольник 1"/>
          <p:cNvSpPr/>
          <p:nvPr/>
        </p:nvSpPr>
        <p:spPr bwMode="auto">
          <a:xfrm>
            <a:off x="346075" y="324562"/>
            <a:ext cx="501198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1480951" name="Скругленный прямоугольник 16"/>
          <p:cNvSpPr/>
          <p:nvPr/>
        </p:nvSpPr>
        <p:spPr bwMode="auto">
          <a:xfrm>
            <a:off x="5951744" y="1366422"/>
            <a:ext cx="5905293" cy="1359311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622222131" name="Скругленный прямоугольник 17"/>
          <p:cNvSpPr/>
          <p:nvPr/>
        </p:nvSpPr>
        <p:spPr bwMode="auto">
          <a:xfrm>
            <a:off x="6007306" y="2881311"/>
            <a:ext cx="5905293" cy="1488324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720148359" name="Скругленный прямоугольник 18"/>
          <p:cNvSpPr/>
          <p:nvPr/>
        </p:nvSpPr>
        <p:spPr bwMode="auto">
          <a:xfrm>
            <a:off x="6007307" y="4612597"/>
            <a:ext cx="5905293" cy="1588176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77359804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476638035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defRPr/>
            </a:pPr>
            <a:r>
              <a:rPr lang="ru-RU" sz="2500" b="1" dirty="0" smtClean="0">
                <a:solidFill>
                  <a:schemeClr val="tx1"/>
                </a:solidFill>
              </a:rPr>
              <a:t>Копилка Ананас Татьяна</a:t>
            </a:r>
            <a:endParaRPr lang="ru-RU" sz="2500" b="1" dirty="0">
              <a:solidFill>
                <a:schemeClr val="tx1"/>
              </a:solidFill>
            </a:endParaRPr>
          </a:p>
        </p:txBody>
      </p:sp>
      <p:sp>
        <p:nvSpPr>
          <p:cNvPr id="949089224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565564"/>
            <a:ext cx="5460470" cy="116016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Технически:</a:t>
            </a:r>
            <a:r>
              <a:rPr lang="ru-RU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Сборка </a:t>
            </a:r>
            <a:r>
              <a:rPr lang="ru-RU" sz="2000" dirty="0" err="1">
                <a:solidFill>
                  <a:schemeClr val="accent6">
                    <a:lumMod val="90000"/>
                    <a:lumOff val="10000"/>
                  </a:schemeClr>
                </a:solidFill>
              </a:rPr>
              <a:t>релизного</a:t>
            </a:r>
            <a:r>
              <a:rPr lang="ru-RU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APK, реализация офлайн-сохранения и раздела взрослого.</a:t>
            </a:r>
            <a:endParaRPr lang="ru-RU" sz="20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89107476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3046742"/>
            <a:ext cx="5460470" cy="385202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Контентно:</a:t>
            </a:r>
            <a:r>
              <a:rPr lang="ru-RU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Полная интеграция адаптированных заданий из книги «Жанна экономит».</a:t>
            </a:r>
            <a:endParaRPr lang="ru-RU" sz="20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170319742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229718" y="4821382"/>
            <a:ext cx="5460470" cy="391327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defRPr/>
            </a:pPr>
            <a:r>
              <a:rPr lang="ru-RU" sz="2000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Стратегически:</a:t>
            </a:r>
            <a:r>
              <a:rPr lang="ru-RU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Пилотное внедрение в московских школах и создание экосистемы финансового воспитания (приложение + книга + комиксы).</a:t>
            </a:r>
            <a:endParaRPr lang="ru-RU" sz="20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90715165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19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792919862" name="Заголовок 13"/>
          <p:cNvSpPr>
            <a:spLocks noGrp="1"/>
          </p:cNvSpPr>
          <p:nvPr>
            <p:ph type="title"/>
          </p:nvPr>
        </p:nvSpPr>
        <p:spPr bwMode="auto">
          <a:xfrm>
            <a:off x="623887" y="66092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Планы по развитию решения</a:t>
            </a:r>
            <a:br>
              <a:rPr lang="ru-RU" dirty="0"/>
            </a:b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743" y="2355449"/>
            <a:ext cx="3102318" cy="35159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357055" name="Скругленный прямоугольник 2"/>
          <p:cNvSpPr/>
          <p:nvPr/>
        </p:nvSpPr>
        <p:spPr bwMode="auto">
          <a:xfrm>
            <a:off x="346075" y="324562"/>
            <a:ext cx="556981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304336666" name="Рисунок 1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335776" y="904537"/>
            <a:ext cx="3214951" cy="3751545"/>
          </a:xfrm>
          <a:prstGeom prst="rect">
            <a:avLst/>
          </a:prstGeom>
        </p:spPr>
      </p:pic>
      <p:sp>
        <p:nvSpPr>
          <p:cNvPr id="1558397386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71045687" name="Текст 3"/>
          <p:cNvSpPr>
            <a:spLocks noGrp="1"/>
          </p:cNvSpPr>
          <p:nvPr>
            <p:ph type="body" sz="quarter" idx="15"/>
          </p:nvPr>
        </p:nvSpPr>
        <p:spPr bwMode="auto"/>
        <p:txBody>
          <a:bodyPr>
            <a:normAutofit/>
          </a:bodyPr>
          <a:lstStyle/>
          <a:p>
            <a:r>
              <a:rPr lang="ru-RU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Понимание назначения личного бюджета.</a:t>
            </a:r>
          </a:p>
          <a:p>
            <a:r>
              <a:rPr lang="ru-RU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Различение обязательных и необязательных расходов.</a:t>
            </a:r>
          </a:p>
          <a:p>
            <a:pPr>
              <a:defRPr/>
            </a:pPr>
            <a:endParaRPr lang="ru-RU" sz="20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92640762" name="Текст 4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763255"/>
            <a:ext cx="3601171" cy="1593101"/>
          </a:xfrm>
        </p:spPr>
        <p:txBody>
          <a:bodyPr>
            <a:normAutofit fontScale="62500" lnSpcReduction="20000"/>
          </a:bodyPr>
          <a:lstStyle/>
          <a:p>
            <a:r>
              <a:rPr lang="ru-RU" sz="3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Планирование простых покупок в условиях ограниченного бюджета.</a:t>
            </a:r>
          </a:p>
          <a:p>
            <a:r>
              <a:rPr lang="ru-RU" sz="3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Постановка краткосрочной финансовой цели и регулярные накопления</a:t>
            </a:r>
            <a:r>
              <a:rPr lang="ru-RU" sz="3000" dirty="0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87788135" name="Текст 5"/>
          <p:cNvSpPr>
            <a:spLocks noGrp="1"/>
          </p:cNvSpPr>
          <p:nvPr>
            <p:ph type="body" sz="quarter" idx="17"/>
          </p:nvPr>
        </p:nvSpPr>
        <p:spPr bwMode="auto"/>
        <p:txBody>
          <a:bodyPr/>
          <a:lstStyle/>
          <a:p>
            <a:r>
              <a:rPr lang="ru-RU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Оценка собственных финансовых решений.</a:t>
            </a:r>
          </a:p>
          <a:p>
            <a:r>
              <a:rPr lang="ru-RU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Использование приложения при участии взрослого.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3533116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Образовательные </a:t>
            </a:r>
            <a:r>
              <a:rPr lang="ru-RU" dirty="0" smtClean="0"/>
              <a:t>результаты</a:t>
            </a:r>
            <a:endParaRPr lang="ru-RU" dirty="0"/>
          </a:p>
        </p:txBody>
      </p:sp>
      <p:pic>
        <p:nvPicPr>
          <p:cNvPr id="8" name="Рисунок 7"/>
          <p:cNvPicPr>
            <a:picLocks noGrp="1" noChangeAspect="1"/>
          </p:cNvPicPr>
          <p:nvPr>
            <p:ph type="pic" sz="quarter" idx="14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8" b="2588"/>
          <a:stretch>
            <a:fillRect/>
          </a:stretch>
        </p:blipFill>
        <p:spPr>
          <a:xfrm>
            <a:off x="4613275" y="1222375"/>
            <a:ext cx="2646363" cy="3071813"/>
          </a:xfr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286660" name="Скругленный прямоугольник 11"/>
          <p:cNvSpPr/>
          <p:nvPr/>
        </p:nvSpPr>
        <p:spPr bwMode="auto">
          <a:xfrm>
            <a:off x="346075" y="324562"/>
            <a:ext cx="5298608" cy="690086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07787846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21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796439875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dirty="0">
                <a:solidFill>
                  <a:schemeClr val="accent1"/>
                </a:solidFill>
              </a:rPr>
              <a:t>Пилотный запуск приложения в школах Москвы</a:t>
            </a:r>
          </a:p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66738190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2241755"/>
            <a:ext cx="2526079" cy="69300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7030A0"/>
                </a:solidFill>
              </a:rPr>
              <a:t>Тестирование методики на фокус-группах детей 7–11 лет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86737569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285716" y="1458075"/>
            <a:ext cx="347198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dirty="0">
                <a:solidFill>
                  <a:schemeClr val="accent1"/>
                </a:solidFill>
              </a:rPr>
              <a:t>Запуск подростковой версии (12–16 лет) с усложнёнными сценариями</a:t>
            </a:r>
          </a:p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10402669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294788" y="2241755"/>
            <a:ext cx="3462917" cy="69300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>
                <a:solidFill>
                  <a:srgbClr val="7030A0"/>
                </a:solidFill>
              </a:rPr>
              <a:t>Публикация серии книг-продолжений с персонажами Тоби и Ананас Татьяной</a:t>
            </a:r>
          </a:p>
          <a:p>
            <a:pPr>
              <a:defRPr/>
            </a:pP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1432674537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8465574" y="1458076"/>
            <a:ext cx="3391367" cy="78368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dirty="0">
                <a:solidFill>
                  <a:schemeClr val="accent1"/>
                </a:solidFill>
              </a:rPr>
              <a:t>Формирование экосистемы: приложение + книга + комиксы + </a:t>
            </a:r>
            <a:r>
              <a:rPr lang="ru-RU" b="0" dirty="0" err="1">
                <a:solidFill>
                  <a:schemeClr val="accent1"/>
                </a:solidFill>
              </a:rPr>
              <a:t>мерч</a:t>
            </a:r>
            <a:endParaRPr lang="ru-RU" b="0" dirty="0">
              <a:solidFill>
                <a:schemeClr val="accent1"/>
              </a:solidFill>
            </a:endParaRPr>
          </a:p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751012281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8465574" y="2241755"/>
            <a:ext cx="3391367" cy="69300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Выход на федеральный уровень через партнёрство с </a:t>
            </a:r>
            <a:r>
              <a:rPr lang="ru-RU" dirty="0" err="1">
                <a:solidFill>
                  <a:schemeClr val="accent6">
                    <a:lumMod val="75000"/>
                    <a:lumOff val="25000"/>
                  </a:schemeClr>
                </a:solidFill>
              </a:rPr>
              <a:t>Минпросвещения</a:t>
            </a:r>
            <a:r>
              <a:rPr lang="ru-RU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 РФ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21704267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1386349" y="4825338"/>
            <a:ext cx="3733248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dirty="0">
                <a:solidFill>
                  <a:schemeClr val="accent1"/>
                </a:solidFill>
              </a:rPr>
              <a:t>Интеграция в уроки финансовой грамотности Департамента образования</a:t>
            </a:r>
          </a:p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477899241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1504335" y="5560142"/>
            <a:ext cx="3615261" cy="741883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7030A0"/>
                </a:solidFill>
              </a:rPr>
              <a:t>Методические пособия для учителей на базе механик приложения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3054558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330814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dirty="0">
                <a:solidFill>
                  <a:schemeClr val="accent1"/>
                </a:solidFill>
              </a:rPr>
              <a:t>Лицензирование персонажей для детских банковских продуктов</a:t>
            </a:r>
          </a:p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75798734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560142"/>
            <a:ext cx="3513499" cy="741883"/>
          </a:xfrm>
        </p:spPr>
        <p:txBody>
          <a:bodyPr/>
          <a:lstStyle/>
          <a:p>
            <a:pPr>
              <a:defRPr/>
            </a:pPr>
            <a:r>
              <a:rPr lang="ru-RU" dirty="0" err="1">
                <a:solidFill>
                  <a:srgbClr val="7030A0"/>
                </a:solidFill>
              </a:rPr>
              <a:t>Коллаборации</a:t>
            </a:r>
            <a:r>
              <a:rPr lang="ru-RU" dirty="0">
                <a:solidFill>
                  <a:srgbClr val="7030A0"/>
                </a:solidFill>
              </a:rPr>
              <a:t> с издательствами и образовательными платформами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804456073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136768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9111149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51119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573407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7048236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4998081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651262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78897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1670679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416347577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1379501101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1937160584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370567859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170143418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Бизнесовая составляющая </a:t>
            </a:r>
            <a:r>
              <a:rPr lang="ru-RU" dirty="0" smtClean="0"/>
              <a:t>решения</a:t>
            </a:r>
            <a:endParaRPr lang="ru-RU" dirty="0"/>
          </a:p>
        </p:txBody>
      </p:sp>
      <p:sp>
        <p:nvSpPr>
          <p:cNvPr id="1216134205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021812762" name="Скругленный прямоугольник 15"/>
          <p:cNvSpPr/>
          <p:nvPr/>
        </p:nvSpPr>
        <p:spPr bwMode="auto">
          <a:xfrm>
            <a:off x="4135193" y="1370651"/>
            <a:ext cx="370364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142036094" name="Скругленный прямоугольник 16"/>
          <p:cNvSpPr/>
          <p:nvPr/>
        </p:nvSpPr>
        <p:spPr bwMode="auto">
          <a:xfrm>
            <a:off x="8343442" y="1370651"/>
            <a:ext cx="3594635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681271661" name="Скругленный прямоугольник 17"/>
          <p:cNvSpPr/>
          <p:nvPr/>
        </p:nvSpPr>
        <p:spPr bwMode="auto">
          <a:xfrm>
            <a:off x="1386348" y="4825338"/>
            <a:ext cx="392172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181971109" name="Скругленный прямоугольник 18"/>
          <p:cNvSpPr/>
          <p:nvPr/>
        </p:nvSpPr>
        <p:spPr bwMode="auto">
          <a:xfrm>
            <a:off x="6948708" y="4791290"/>
            <a:ext cx="3847111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855634" name="Заголовок 5"/>
          <p:cNvSpPr>
            <a:spLocks noGrp="1"/>
          </p:cNvSpPr>
          <p:nvPr>
            <p:ph type="title"/>
          </p:nvPr>
        </p:nvSpPr>
        <p:spPr bwMode="auto">
          <a:xfrm>
            <a:off x="521133" y="953036"/>
            <a:ext cx="5562510" cy="442374"/>
          </a:xfrm>
        </p:spPr>
        <p:txBody>
          <a:bodyPr/>
          <a:lstStyle/>
          <a:p>
            <a:pPr>
              <a:defRPr/>
            </a:pPr>
            <a:endParaRPr lang="ru-RU" sz="2000" dirty="0">
              <a:solidFill>
                <a:srgbClr val="7030A0"/>
              </a:solidFill>
            </a:endParaRPr>
          </a:p>
        </p:txBody>
      </p:sp>
      <p:sp>
        <p:nvSpPr>
          <p:cNvPr id="199384775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607575" y="1720474"/>
            <a:ext cx="8391832" cy="701811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2500" b="1" dirty="0">
                <a:solidFill>
                  <a:srgbClr val="7030A0"/>
                </a:solidFill>
              </a:rPr>
              <a:t>Этапы</a:t>
            </a:r>
            <a:r>
              <a:rPr lang="ru-RU" b="1" dirty="0"/>
              <a:t> </a:t>
            </a:r>
            <a:r>
              <a:rPr lang="ru-RU" sz="2500" b="1" dirty="0" smtClean="0">
                <a:solidFill>
                  <a:srgbClr val="7030A0"/>
                </a:solidFill>
              </a:rPr>
              <a:t>масштабирования</a:t>
            </a:r>
            <a:endParaRPr lang="ru-RU" sz="2500" dirty="0">
              <a:solidFill>
                <a:srgbClr val="7030A0"/>
              </a:solidFill>
            </a:endParaRPr>
          </a:p>
        </p:txBody>
      </p:sp>
      <p:sp>
        <p:nvSpPr>
          <p:cNvPr id="1258197669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10063740" cy="3804315"/>
          </a:xfrm>
        </p:spPr>
        <p:txBody>
          <a:bodyPr>
            <a:normAutofit/>
          </a:bodyPr>
          <a:lstStyle/>
          <a:p>
            <a:r>
              <a:rPr lang="ru-RU" sz="3500" b="1" dirty="0">
                <a:solidFill>
                  <a:srgbClr val="7030A0"/>
                </a:solidFill>
              </a:rPr>
              <a:t>Тип:</a:t>
            </a:r>
            <a:r>
              <a:rPr lang="ru-RU" sz="3500" dirty="0">
                <a:solidFill>
                  <a:srgbClr val="7030A0"/>
                </a:solidFill>
              </a:rPr>
              <a:t> Дорожная карта (</a:t>
            </a:r>
            <a:r>
              <a:rPr lang="ru-RU" sz="3500" dirty="0" err="1">
                <a:solidFill>
                  <a:srgbClr val="7030A0"/>
                </a:solidFill>
              </a:rPr>
              <a:t>timeline</a:t>
            </a:r>
            <a:r>
              <a:rPr lang="ru-RU" sz="3500" dirty="0" smtClean="0">
                <a:solidFill>
                  <a:srgbClr val="7030A0"/>
                </a:solidFill>
              </a:rPr>
              <a:t>)</a:t>
            </a:r>
          </a:p>
          <a:p>
            <a:endParaRPr lang="ru-RU" sz="3500" dirty="0">
              <a:solidFill>
                <a:srgbClr val="7030A0"/>
              </a:solidFill>
            </a:endParaRPr>
          </a:p>
          <a:p>
            <a:r>
              <a:rPr lang="ru-RU" sz="3500" dirty="0">
                <a:solidFill>
                  <a:srgbClr val="7030A0"/>
                </a:solidFill>
              </a:rPr>
              <a:t>2026 → Пилот в Москве</a:t>
            </a:r>
          </a:p>
          <a:p>
            <a:r>
              <a:rPr lang="ru-RU" sz="3500" dirty="0">
                <a:solidFill>
                  <a:srgbClr val="7030A0"/>
                </a:solidFill>
              </a:rPr>
              <a:t>2027 → Все школы города</a:t>
            </a:r>
          </a:p>
          <a:p>
            <a:r>
              <a:rPr lang="ru-RU" sz="3500" dirty="0">
                <a:solidFill>
                  <a:srgbClr val="7030A0"/>
                </a:solidFill>
              </a:rPr>
              <a:t>2028 → Федеральный уровень</a:t>
            </a:r>
          </a:p>
          <a:p>
            <a:r>
              <a:rPr lang="ru-RU" sz="3500" dirty="0">
                <a:solidFill>
                  <a:srgbClr val="7030A0"/>
                </a:solidFill>
              </a:rPr>
              <a:t>2029 → Международная адаптация</a:t>
            </a:r>
          </a:p>
          <a:p>
            <a:pPr>
              <a:defRPr/>
            </a:pPr>
            <a:endParaRPr lang="ru-RU" sz="3500" dirty="0">
              <a:solidFill>
                <a:srgbClr val="7030A0"/>
              </a:solidFill>
            </a:endParaRPr>
          </a:p>
        </p:txBody>
      </p:sp>
      <p:sp>
        <p:nvSpPr>
          <p:cNvPr id="1886604255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22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738462245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60603524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306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044550" name="Скругленный прямоугольник 10"/>
          <p:cNvSpPr/>
          <p:nvPr/>
        </p:nvSpPr>
        <p:spPr bwMode="auto">
          <a:xfrm>
            <a:off x="6286500" y="917524"/>
            <a:ext cx="5570538" cy="5040823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09981276" name="Скругленный прямоугольник 1"/>
          <p:cNvSpPr/>
          <p:nvPr/>
        </p:nvSpPr>
        <p:spPr bwMode="auto">
          <a:xfrm>
            <a:off x="399075" y="571722"/>
            <a:ext cx="472737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24121644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23</a:t>
            </a:fld>
            <a:endParaRPr lang="ru-RU"/>
          </a:p>
        </p:txBody>
      </p:sp>
      <p:sp>
        <p:nvSpPr>
          <p:cNvPr id="1371727928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3300" b="0" dirty="0" smtClean="0">
                <a:solidFill>
                  <a:srgbClr val="7030A0"/>
                </a:solidFill>
              </a:rPr>
              <a:t>Сравнительная диаграмма </a:t>
            </a:r>
          </a:p>
          <a:p>
            <a:pPr marL="0" indent="0">
              <a:buNone/>
            </a:pPr>
            <a:r>
              <a:rPr lang="ru-RU" sz="3300" b="0" dirty="0" smtClean="0">
                <a:solidFill>
                  <a:srgbClr val="7030A0"/>
                </a:solidFill>
              </a:rPr>
              <a:t>"До / После«</a:t>
            </a:r>
          </a:p>
          <a:p>
            <a:pPr marL="0" indent="0">
              <a:buNone/>
            </a:pPr>
            <a:endParaRPr lang="ru-RU" sz="3300" b="0" dirty="0" smtClean="0">
              <a:solidFill>
                <a:srgbClr val="7030A0"/>
              </a:solidFill>
            </a:endParaRPr>
          </a:p>
          <a:p>
            <a:r>
              <a:rPr lang="ru-RU" sz="3300" dirty="0" smtClean="0">
                <a:solidFill>
                  <a:srgbClr val="7030A0"/>
                </a:solidFill>
              </a:rPr>
              <a:t>До:</a:t>
            </a:r>
            <a:r>
              <a:rPr lang="ru-RU" sz="3300" b="0" dirty="0" smtClean="0">
                <a:solidFill>
                  <a:srgbClr val="7030A0"/>
                </a:solidFill>
              </a:rPr>
              <a:t> 60% детей не понимают разницу между "хочу" и "надо"</a:t>
            </a:r>
          </a:p>
          <a:p>
            <a:r>
              <a:rPr lang="ru-RU" sz="3300" dirty="0" smtClean="0">
                <a:solidFill>
                  <a:srgbClr val="7030A0"/>
                </a:solidFill>
              </a:rPr>
              <a:t>После:</a:t>
            </a:r>
            <a:r>
              <a:rPr lang="ru-RU" sz="3300" b="0" dirty="0" smtClean="0">
                <a:solidFill>
                  <a:srgbClr val="7030A0"/>
                </a:solidFill>
              </a:rPr>
              <a:t> 80% детей планируют бюджет и копят на цель</a:t>
            </a:r>
          </a:p>
          <a:p>
            <a:pPr>
              <a:defRPr/>
            </a:pP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140214691" name="Заголовок 13"/>
          <p:cNvSpPr>
            <a:spLocks noGrp="1"/>
          </p:cNvSpPr>
          <p:nvPr>
            <p:ph type="title"/>
          </p:nvPr>
        </p:nvSpPr>
        <p:spPr bwMode="auto">
          <a:xfrm>
            <a:off x="570062" y="673589"/>
            <a:ext cx="5241351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Социальный эффект через </a:t>
            </a:r>
            <a:r>
              <a:rPr lang="ru-RU" dirty="0" smtClean="0"/>
              <a:t>2 года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1431621"/>
            <a:ext cx="5656519" cy="43059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375520" name="Скругленный прямоугольник 1"/>
          <p:cNvSpPr/>
          <p:nvPr/>
        </p:nvSpPr>
        <p:spPr bwMode="auto">
          <a:xfrm>
            <a:off x="346075" y="324562"/>
            <a:ext cx="4948596" cy="648832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8882884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619539373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sz="2500" b="0" dirty="0"/>
              <a:t>Столбчатая диаграмма (рост по годам)</a:t>
            </a:r>
            <a:endParaRPr lang="ru-RU" sz="2500" b="0" dirty="0">
              <a:solidFill>
                <a:schemeClr val="accent5"/>
              </a:solidFill>
            </a:endParaRPr>
          </a:p>
        </p:txBody>
      </p:sp>
      <p:sp>
        <p:nvSpPr>
          <p:cNvPr id="1420749394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55267" y="2554289"/>
            <a:ext cx="4790314" cy="2814124"/>
          </a:xfrm>
        </p:spPr>
        <p:txBody>
          <a:bodyPr>
            <a:normAutofit fontScale="85000" lnSpcReduction="10000"/>
          </a:bodyPr>
          <a:lstStyle/>
          <a:p>
            <a:r>
              <a:rPr lang="ru-RU" sz="3800" dirty="0">
                <a:solidFill>
                  <a:srgbClr val="7030A0"/>
                </a:solidFill>
              </a:rPr>
              <a:t>2026: 50 школ → </a:t>
            </a:r>
            <a:endParaRPr lang="ru-RU" sz="3800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ru-RU" sz="3800" dirty="0" smtClean="0">
                <a:solidFill>
                  <a:srgbClr val="7030A0"/>
                </a:solidFill>
              </a:rPr>
              <a:t>25 </a:t>
            </a:r>
            <a:r>
              <a:rPr lang="ru-RU" sz="3800" dirty="0">
                <a:solidFill>
                  <a:srgbClr val="7030A0"/>
                </a:solidFill>
              </a:rPr>
              <a:t>000 детей</a:t>
            </a:r>
          </a:p>
          <a:p>
            <a:r>
              <a:rPr lang="ru-RU" sz="3800" dirty="0">
                <a:solidFill>
                  <a:srgbClr val="7030A0"/>
                </a:solidFill>
              </a:rPr>
              <a:t>2027: 1 500 школ → 450 000 детей</a:t>
            </a:r>
          </a:p>
          <a:p>
            <a:r>
              <a:rPr lang="ru-RU" sz="3800" dirty="0">
                <a:solidFill>
                  <a:srgbClr val="7030A0"/>
                </a:solidFill>
              </a:rPr>
              <a:t>2028: 10 000 школ по РФ → 3 000 000 детей</a:t>
            </a:r>
          </a:p>
          <a:p>
            <a:pPr>
              <a:defRPr/>
            </a:pPr>
            <a:endParaRPr lang="ru-RU" dirty="0">
              <a:solidFill>
                <a:schemeClr val="accent5"/>
              </a:solidFill>
            </a:endParaRPr>
          </a:p>
        </p:txBody>
      </p:sp>
      <p:graphicFrame>
        <p:nvGraphicFramePr>
          <p:cNvPr id="1018903060" name="Диаграмма 11"/>
          <p:cNvGraphicFramePr>
            <a:graphicFrameLocks/>
          </p:cNvGraphicFramePr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5758511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Прогноз охвата </a:t>
            </a:r>
            <a:r>
              <a:rPr lang="ru-RU" dirty="0" smtClean="0"/>
              <a:t>аудитории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1400235"/>
            <a:ext cx="5862996" cy="43059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751190" name="Скругленный прямоугольник 1"/>
          <p:cNvSpPr/>
          <p:nvPr/>
        </p:nvSpPr>
        <p:spPr bwMode="auto">
          <a:xfrm>
            <a:off x="346075" y="324562"/>
            <a:ext cx="4516870" cy="672965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13254780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6"/>
                </a:solidFill>
              </a:rPr>
              <a:t>25</a:t>
            </a:fld>
            <a:endParaRPr lang="ru-RU">
              <a:solidFill>
                <a:schemeClr val="accent6"/>
              </a:solidFill>
            </a:endParaRPr>
          </a:p>
        </p:txBody>
      </p:sp>
      <p:sp>
        <p:nvSpPr>
          <p:cNvPr id="1699079346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76590" y="1563221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sz="3000" b="0" dirty="0">
                <a:solidFill>
                  <a:srgbClr val="7030A0"/>
                </a:solidFill>
              </a:rPr>
              <a:t>Государственные гранты: 60%</a:t>
            </a:r>
          </a:p>
          <a:p>
            <a:pPr>
              <a:defRPr/>
            </a:pPr>
            <a:endParaRPr lang="ru-RU" sz="3000" b="0" dirty="0">
              <a:solidFill>
                <a:srgbClr val="7030A0"/>
              </a:solidFill>
            </a:endParaRPr>
          </a:p>
        </p:txBody>
      </p:sp>
      <p:sp>
        <p:nvSpPr>
          <p:cNvPr id="8184509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sz="3000" b="0" dirty="0">
                <a:solidFill>
                  <a:srgbClr val="7030A0"/>
                </a:solidFill>
              </a:rPr>
              <a:t>Партнерства с </a:t>
            </a:r>
            <a:r>
              <a:rPr lang="en-US" sz="3000" b="0" dirty="0" err="1">
                <a:solidFill>
                  <a:srgbClr val="7030A0"/>
                </a:solidFill>
              </a:rPr>
              <a:t>EdTech</a:t>
            </a:r>
            <a:r>
              <a:rPr lang="en-US" sz="3000" b="0" dirty="0">
                <a:solidFill>
                  <a:srgbClr val="7030A0"/>
                </a:solidFill>
              </a:rPr>
              <a:t>: 25%</a:t>
            </a:r>
          </a:p>
          <a:p>
            <a:pPr>
              <a:defRPr/>
            </a:pP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449882978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sz="3000" b="0" dirty="0">
                <a:solidFill>
                  <a:srgbClr val="7030A0"/>
                </a:solidFill>
              </a:rPr>
              <a:t>Лицензирование персонажей: 15%</a:t>
            </a:r>
          </a:p>
          <a:p>
            <a:pPr marL="0" indent="0">
              <a:buNone/>
              <a:defRPr/>
            </a:pPr>
            <a:endParaRPr lang="ru-RU" b="0" dirty="0">
              <a:solidFill>
                <a:schemeClr val="accent6"/>
              </a:solidFill>
            </a:endParaRPr>
          </a:p>
        </p:txBody>
      </p:sp>
      <p:graphicFrame>
        <p:nvGraphicFramePr>
          <p:cNvPr id="1475752900" name="Диаграмма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7546057"/>
              </p:ext>
            </p:extLst>
          </p:nvPr>
        </p:nvGraphicFramePr>
        <p:xfrm>
          <a:off x="625095" y="1360288"/>
          <a:ext cx="5179959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87140835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Источники </a:t>
            </a:r>
            <a:r>
              <a:rPr lang="ru-RU" dirty="0" smtClean="0"/>
              <a:t>финансирования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353885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80124542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61373649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23484686" name="Скругленный прямоугольник 1"/>
          <p:cNvSpPr/>
          <p:nvPr/>
        </p:nvSpPr>
        <p:spPr bwMode="auto">
          <a:xfrm>
            <a:off x="346074" y="324563"/>
            <a:ext cx="4223815" cy="560718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4494348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47913001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1948691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395570863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sz="2500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Возрастная уместность:</a:t>
            </a:r>
            <a:r>
              <a:rPr lang="ru-RU" sz="25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Крупные элементы (минимум 48×48 </a:t>
            </a:r>
            <a:r>
              <a:rPr lang="ru-RU" sz="2500" dirty="0" err="1">
                <a:solidFill>
                  <a:schemeClr val="accent6">
                    <a:lumMod val="90000"/>
                    <a:lumOff val="10000"/>
                  </a:schemeClr>
                </a:solidFill>
              </a:rPr>
              <a:t>dp</a:t>
            </a:r>
            <a:r>
              <a:rPr lang="ru-RU" sz="25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), короткие фразы, понятные суммы (100 монет), минимум терминов.</a:t>
            </a:r>
            <a:endParaRPr lang="ru-RU" sz="25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549109423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sz="2500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Доступность</a:t>
            </a:r>
            <a:r>
              <a:rPr lang="ru-RU" sz="2500" b="1" dirty="0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:</a:t>
            </a:r>
          </a:p>
          <a:p>
            <a:pPr>
              <a:defRPr/>
            </a:pPr>
            <a:r>
              <a:rPr lang="ru-RU" sz="2500" dirty="0" smtClean="0">
                <a:solidFill>
                  <a:schemeClr val="accent6">
                    <a:lumMod val="90000"/>
                    <a:lumOff val="10000"/>
                  </a:schemeClr>
                </a:solidFill>
              </a:rPr>
              <a:t>Цвет </a:t>
            </a:r>
            <a:r>
              <a:rPr lang="ru-RU" sz="25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не единственный способ передачи информации, высокий контраст, звуки и анимации можно отключить.</a:t>
            </a:r>
            <a:endParaRPr lang="ru-RU" sz="25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568945571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sz="2500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Безопасность:</a:t>
            </a:r>
            <a:r>
              <a:rPr lang="ru-RU" sz="25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 Работа без сбора персональных данных, без рекламы и внешних ссылок. Кнопка возврата всегда доступна.</a:t>
            </a:r>
            <a:endParaRPr lang="ru-RU" sz="25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441233635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7860167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2029347075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574699041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2142661778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6778732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Ключевые </a:t>
            </a:r>
            <a:r>
              <a:rPr lang="en-US" dirty="0"/>
              <a:t>UX/UI-</a:t>
            </a:r>
            <a:r>
              <a:rPr lang="ru-RU" dirty="0" smtClean="0"/>
              <a:t>решения</a:t>
            </a:r>
            <a:endParaRPr lang="ru-RU" dirty="0"/>
          </a:p>
        </p:txBody>
      </p:sp>
      <p:cxnSp>
        <p:nvCxnSpPr>
          <p:cNvPr id="1387224530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217619" name="Скругленный прямоугольник 22"/>
          <p:cNvSpPr/>
          <p:nvPr/>
        </p:nvSpPr>
        <p:spPr bwMode="auto">
          <a:xfrm>
            <a:off x="346075" y="324562"/>
            <a:ext cx="6137852" cy="705192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27488657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762277632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accent1"/>
                </a:solidFill>
              </a:rPr>
              <a:t>Тестирование:</a:t>
            </a:r>
            <a:r>
              <a:rPr lang="ru-RU" sz="2000" b="0" dirty="0">
                <a:solidFill>
                  <a:schemeClr val="accent1"/>
                </a:solidFill>
              </a:rPr>
              <a:t> </a:t>
            </a:r>
            <a:endParaRPr lang="ru-RU" sz="2000" dirty="0">
              <a:solidFill>
                <a:schemeClr val="accent1"/>
              </a:solidFill>
            </a:endParaRPr>
          </a:p>
        </p:txBody>
      </p:sp>
      <p:sp>
        <p:nvSpPr>
          <p:cNvPr id="1341298572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3" y="1996388"/>
            <a:ext cx="9797543" cy="672075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Прототип проверен на 5 экранах, полный сценарий проходит без ошибок, все кнопки </a:t>
            </a:r>
            <a:r>
              <a:rPr lang="ru-RU" sz="2000" dirty="0" err="1">
                <a:solidFill>
                  <a:schemeClr val="accent6">
                    <a:lumMod val="75000"/>
                    <a:lumOff val="25000"/>
                  </a:schemeClr>
                </a:solidFill>
              </a:rPr>
              <a:t>кликабельны</a:t>
            </a:r>
            <a:r>
              <a:rPr lang="ru-RU" sz="20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 и связаны</a:t>
            </a:r>
            <a:r>
              <a:rPr lang="ru-RU" dirty="0"/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9777141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accent1"/>
                </a:solidFill>
              </a:rPr>
              <a:t>Известные ограничения:</a:t>
            </a:r>
            <a:r>
              <a:rPr lang="ru-RU" sz="2000" b="0" dirty="0">
                <a:solidFill>
                  <a:schemeClr val="accent1"/>
                </a:solidFill>
              </a:rPr>
              <a:t> </a:t>
            </a:r>
            <a:endParaRPr lang="ru-RU" sz="2000" dirty="0">
              <a:solidFill>
                <a:schemeClr val="accent1"/>
              </a:solidFill>
            </a:endParaRPr>
          </a:p>
        </p:txBody>
      </p:sp>
      <p:sp>
        <p:nvSpPr>
          <p:cNvPr id="2122350229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9816902" cy="6720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000" dirty="0">
                <a:solidFill>
                  <a:srgbClr val="7030A0"/>
                </a:solidFill>
              </a:rPr>
              <a:t>Прототип требует интернет (</a:t>
            </a:r>
            <a:r>
              <a:rPr lang="ru-RU" sz="2000" dirty="0" err="1">
                <a:solidFill>
                  <a:srgbClr val="7030A0"/>
                </a:solidFill>
              </a:rPr>
              <a:t>Figma</a:t>
            </a:r>
            <a:r>
              <a:rPr lang="ru-RU" sz="2000" dirty="0">
                <a:solidFill>
                  <a:srgbClr val="7030A0"/>
                </a:solidFill>
              </a:rPr>
              <a:t>), нет сохранения данных между сессиями, нет реального начисления монет.</a:t>
            </a:r>
            <a:endParaRPr lang="ru-RU" sz="2000" dirty="0">
              <a:solidFill>
                <a:srgbClr val="7030A0"/>
              </a:solidFill>
            </a:endParaRPr>
          </a:p>
        </p:txBody>
      </p:sp>
      <p:sp>
        <p:nvSpPr>
          <p:cNvPr id="241543164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accent1"/>
                </a:solidFill>
              </a:rPr>
              <a:t>План до финала:</a:t>
            </a:r>
            <a:r>
              <a:rPr lang="ru-RU" sz="2000" b="0" dirty="0">
                <a:solidFill>
                  <a:schemeClr val="accent1"/>
                </a:solidFill>
              </a:rPr>
              <a:t> </a:t>
            </a:r>
            <a:endParaRPr lang="ru-RU" sz="2000" dirty="0">
              <a:solidFill>
                <a:schemeClr val="accent1"/>
              </a:solidFill>
            </a:endParaRPr>
          </a:p>
        </p:txBody>
      </p:sp>
      <p:sp>
        <p:nvSpPr>
          <p:cNvPr id="17383111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9816902" cy="6720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Написание кода на </a:t>
            </a:r>
            <a:r>
              <a:rPr lang="ru-RU" sz="2000" dirty="0" err="1">
                <a:solidFill>
                  <a:schemeClr val="accent6">
                    <a:lumMod val="90000"/>
                    <a:lumOff val="10000"/>
                  </a:schemeClr>
                </a:solidFill>
              </a:rPr>
              <a:t>Kotlin</a:t>
            </a:r>
            <a:r>
              <a:rPr lang="ru-RU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, интеграция заданий из книги, реализация сохранения данных через </a:t>
            </a:r>
            <a:r>
              <a:rPr lang="ru-RU" sz="2000" dirty="0" err="1">
                <a:solidFill>
                  <a:schemeClr val="accent6">
                    <a:lumMod val="90000"/>
                    <a:lumOff val="10000"/>
                  </a:schemeClr>
                </a:solidFill>
              </a:rPr>
              <a:t>Room</a:t>
            </a:r>
            <a:r>
              <a:rPr lang="ru-RU" sz="20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, сборка APK.</a:t>
            </a:r>
            <a:endParaRPr lang="ru-RU" sz="200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9217212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Результаты тестирования и </a:t>
            </a:r>
            <a:r>
              <a:rPr lang="ru-RU" dirty="0" smtClean="0"/>
              <a:t>ограничения</a:t>
            </a:r>
            <a:endParaRPr lang="ru-RU" dirty="0"/>
          </a:p>
        </p:txBody>
      </p:sp>
      <p:sp>
        <p:nvSpPr>
          <p:cNvPr id="1070999233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396585555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64544122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855634" name="Заголовок 5"/>
          <p:cNvSpPr>
            <a:spLocks noGrp="1"/>
          </p:cNvSpPr>
          <p:nvPr>
            <p:ph type="title"/>
          </p:nvPr>
        </p:nvSpPr>
        <p:spPr bwMode="auto">
          <a:xfrm>
            <a:off x="521133" y="953036"/>
            <a:ext cx="5562510" cy="442374"/>
          </a:xfrm>
        </p:spPr>
        <p:txBody>
          <a:bodyPr/>
          <a:lstStyle/>
          <a:p>
            <a:pPr>
              <a:defRPr/>
            </a:pPr>
            <a:r>
              <a:rPr lang="ru-RU" dirty="0" smtClean="0">
                <a:solidFill>
                  <a:srgbClr val="7030A0"/>
                </a:solidFill>
              </a:rPr>
              <a:t>Описание решения</a:t>
            </a:r>
            <a:endParaRPr lang="ru-RU" sz="2000" dirty="0">
              <a:solidFill>
                <a:srgbClr val="7030A0"/>
              </a:solidFill>
            </a:endParaRPr>
          </a:p>
        </p:txBody>
      </p:sp>
      <p:sp>
        <p:nvSpPr>
          <p:cNvPr id="199384775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86005" y="1720474"/>
            <a:ext cx="4923703" cy="701811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2500" b="1" dirty="0">
                <a:solidFill>
                  <a:srgbClr val="7030A0"/>
                </a:solidFill>
              </a:rPr>
              <a:t>Ссылки и </a:t>
            </a:r>
            <a:r>
              <a:rPr lang="ru-RU" sz="2500" b="1" dirty="0" smtClean="0">
                <a:solidFill>
                  <a:srgbClr val="7030A0"/>
                </a:solidFill>
              </a:rPr>
              <a:t>документация</a:t>
            </a:r>
            <a:endParaRPr lang="ru-RU" sz="2500" dirty="0">
              <a:solidFill>
                <a:srgbClr val="7030A0"/>
              </a:solidFill>
            </a:endParaRPr>
          </a:p>
        </p:txBody>
      </p:sp>
      <p:sp>
        <p:nvSpPr>
          <p:cNvPr id="1258197669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1288473" y="2646218"/>
            <a:ext cx="9296400" cy="3710132"/>
          </a:xfrm>
        </p:spPr>
        <p:txBody>
          <a:bodyPr>
            <a:noAutofit/>
          </a:bodyPr>
          <a:lstStyle/>
          <a:p>
            <a:r>
              <a:rPr lang="ru-RU" sz="2500" b="1" dirty="0">
                <a:solidFill>
                  <a:srgbClr val="7030A0"/>
                </a:solidFill>
              </a:rPr>
              <a:t>Интерактивный прототип (</a:t>
            </a:r>
            <a:r>
              <a:rPr lang="ru-RU" sz="2500" b="1" dirty="0" err="1">
                <a:solidFill>
                  <a:srgbClr val="7030A0"/>
                </a:solidFill>
              </a:rPr>
              <a:t>Figma</a:t>
            </a:r>
            <a:r>
              <a:rPr lang="ru-RU" sz="2500" b="1" dirty="0">
                <a:solidFill>
                  <a:srgbClr val="7030A0"/>
                </a:solidFill>
              </a:rPr>
              <a:t>):</a:t>
            </a:r>
            <a:r>
              <a:rPr lang="ru-RU" sz="2500" dirty="0">
                <a:solidFill>
                  <a:srgbClr val="7030A0"/>
                </a:solidFill>
              </a:rPr>
              <a:t> [ваша ссылка]</a:t>
            </a:r>
          </a:p>
          <a:p>
            <a:r>
              <a:rPr lang="ru-RU" sz="2500" b="1" dirty="0" err="1">
                <a:solidFill>
                  <a:srgbClr val="7030A0"/>
                </a:solidFill>
              </a:rPr>
              <a:t>Репозиторий</a:t>
            </a:r>
            <a:r>
              <a:rPr lang="ru-RU" sz="2500" b="1" dirty="0">
                <a:solidFill>
                  <a:srgbClr val="7030A0"/>
                </a:solidFill>
              </a:rPr>
              <a:t> проекта (</a:t>
            </a:r>
            <a:r>
              <a:rPr lang="ru-RU" sz="2500" b="1" dirty="0" err="1">
                <a:solidFill>
                  <a:srgbClr val="7030A0"/>
                </a:solidFill>
              </a:rPr>
              <a:t>GitHub</a:t>
            </a:r>
            <a:r>
              <a:rPr lang="ru-RU" sz="2500" b="1" dirty="0">
                <a:solidFill>
                  <a:srgbClr val="7030A0"/>
                </a:solidFill>
              </a:rPr>
              <a:t>):</a:t>
            </a:r>
            <a:r>
              <a:rPr lang="ru-RU" sz="2500" dirty="0">
                <a:solidFill>
                  <a:srgbClr val="7030A0"/>
                </a:solidFill>
              </a:rPr>
              <a:t> https://github.com/IvankaOrlova/Toby</a:t>
            </a:r>
          </a:p>
          <a:p>
            <a:r>
              <a:rPr lang="ru-RU" sz="2500" b="1" dirty="0">
                <a:solidFill>
                  <a:srgbClr val="7030A0"/>
                </a:solidFill>
              </a:rPr>
              <a:t>Командный </a:t>
            </a:r>
            <a:r>
              <a:rPr lang="ru-RU" sz="2500" b="1" dirty="0" err="1">
                <a:solidFill>
                  <a:srgbClr val="7030A0"/>
                </a:solidFill>
              </a:rPr>
              <a:t>репозиторий</a:t>
            </a:r>
            <a:r>
              <a:rPr lang="ru-RU" sz="2500" b="1" dirty="0">
                <a:solidFill>
                  <a:srgbClr val="7030A0"/>
                </a:solidFill>
              </a:rPr>
              <a:t> (</a:t>
            </a:r>
            <a:r>
              <a:rPr lang="ru-RU" sz="2500" b="1" dirty="0" err="1">
                <a:solidFill>
                  <a:srgbClr val="7030A0"/>
                </a:solidFill>
              </a:rPr>
              <a:t>SourceCraft</a:t>
            </a:r>
            <a:r>
              <a:rPr lang="ru-RU" sz="2500" b="1" dirty="0">
                <a:solidFill>
                  <a:srgbClr val="7030A0"/>
                </a:solidFill>
              </a:rPr>
              <a:t>):</a:t>
            </a:r>
            <a:r>
              <a:rPr lang="ru-RU" sz="2500" dirty="0">
                <a:solidFill>
                  <a:srgbClr val="7030A0"/>
                </a:solidFill>
              </a:rPr>
              <a:t> [ваша ссылка]</a:t>
            </a:r>
          </a:p>
          <a:p>
            <a:r>
              <a:rPr lang="ru-RU" sz="2500" b="1" dirty="0">
                <a:solidFill>
                  <a:srgbClr val="7030A0"/>
                </a:solidFill>
              </a:rPr>
              <a:t>Методическая основа (Книга):</a:t>
            </a:r>
            <a:r>
              <a:rPr lang="ru-RU" sz="2500" dirty="0">
                <a:solidFill>
                  <a:srgbClr val="7030A0"/>
                </a:solidFill>
              </a:rPr>
              <a:t> https://ridero.ru/books/ekonomiya_kak_dukhovnaya_praktika/</a:t>
            </a:r>
          </a:p>
          <a:p>
            <a:r>
              <a:rPr lang="ru-RU" sz="2500" b="1" dirty="0">
                <a:solidFill>
                  <a:srgbClr val="7030A0"/>
                </a:solidFill>
              </a:rPr>
              <a:t>Авторская графика (Художник):</a:t>
            </a:r>
            <a:r>
              <a:rPr lang="ru-RU" sz="2500" dirty="0">
                <a:solidFill>
                  <a:srgbClr val="7030A0"/>
                </a:solidFill>
              </a:rPr>
              <a:t> https://mortem.tilda.ws/comics</a:t>
            </a:r>
          </a:p>
          <a:p>
            <a:pPr>
              <a:defRPr/>
            </a:pPr>
            <a:endParaRPr lang="ru-RU" sz="2500" dirty="0">
              <a:solidFill>
                <a:srgbClr val="7030A0"/>
              </a:solidFill>
            </a:endParaRPr>
          </a:p>
        </p:txBody>
      </p:sp>
      <p:sp>
        <p:nvSpPr>
          <p:cNvPr id="1886604255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28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738462245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60603524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482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</TotalTime>
  <Words>2356</Words>
  <Application>Microsoft Office PowerPoint</Application>
  <PresentationFormat>Широкоэкранный</PresentationFormat>
  <Paragraphs>279</Paragraphs>
  <Slides>28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8" baseType="lpstr">
      <vt:lpstr>Amatic SC</vt:lpstr>
      <vt:lpstr>Arial</vt:lpstr>
      <vt:lpstr>Calibri</vt:lpstr>
      <vt:lpstr>Lato Light</vt:lpstr>
      <vt:lpstr>Montserrat</vt:lpstr>
      <vt:lpstr>Poppins Light</vt:lpstr>
      <vt:lpstr>system-ui</vt:lpstr>
      <vt:lpstr>ui-monospace</vt:lpstr>
      <vt:lpstr>Wingdings</vt:lpstr>
      <vt:lpstr>Для Академия инноваторов 16_9</vt:lpstr>
      <vt:lpstr>Презентация PowerPoint</vt:lpstr>
      <vt:lpstr>Вектор кода</vt:lpstr>
      <vt:lpstr>КОМАНДА  «ВЕКТОР КОДА»</vt:lpstr>
      <vt:lpstr>КОМАНДА «ВЕКТОР КОДА»</vt:lpstr>
      <vt:lpstr>КОМАНДА «ВЕКТОР КОДА»</vt:lpstr>
      <vt:lpstr>Описание проекта</vt:lpstr>
      <vt:lpstr>Идея продукта и механика питомца</vt:lpstr>
      <vt:lpstr>КОРОТКО О РЕШЕНИИ</vt:lpstr>
      <vt:lpstr>Стек и архитектура::</vt:lpstr>
      <vt:lpstr>Каналы внедрения:</vt:lpstr>
      <vt:lpstr>Макроэкономический  и социальный эффект:</vt:lpstr>
      <vt:lpstr>Пользовательский путь и игровая экономика:</vt:lpstr>
      <vt:lpstr>Подробное описание решения (User Flow)</vt:lpstr>
      <vt:lpstr>Описание главного экрана приветствия</vt:lpstr>
      <vt:lpstr>Текущий этап: Интерактивный кликабельный прототип  в Figma (ключевые экраны, полный сценарий).</vt:lpstr>
      <vt:lpstr>Подробное описание решения</vt:lpstr>
      <vt:lpstr>Техническая суть решения</vt:lpstr>
      <vt:lpstr>Уникальность решения</vt:lpstr>
      <vt:lpstr>Планы по развитию решения </vt:lpstr>
      <vt:lpstr>Образовательные результаты</vt:lpstr>
      <vt:lpstr>Бизнесовая составляющая решения</vt:lpstr>
      <vt:lpstr>Презентация PowerPoint</vt:lpstr>
      <vt:lpstr>Социальный эффект через 2 года</vt:lpstr>
      <vt:lpstr>Прогноз охвата аудитории</vt:lpstr>
      <vt:lpstr>Источники финансирования</vt:lpstr>
      <vt:lpstr>Ключевые UX/UI-решения</vt:lpstr>
      <vt:lpstr>Результаты тестирования и ограничения</vt:lpstr>
      <vt:lpstr>Описание решения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Колпино Проходная</cp:lastModifiedBy>
  <cp:revision>189</cp:revision>
  <dcterms:created xsi:type="dcterms:W3CDTF">2023-05-15T07:36:23Z</dcterms:created>
  <dcterms:modified xsi:type="dcterms:W3CDTF">2026-09-25T19:37:54Z</dcterms:modified>
</cp:coreProperties>
</file>